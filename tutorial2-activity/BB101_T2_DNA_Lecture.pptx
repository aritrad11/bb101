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9"/>
  </p:notesMasterIdLst>
  <p:sldIdLst>
    <p:sldId id="256" r:id="rId2"/>
    <p:sldId id="262" r:id="rId3"/>
    <p:sldId id="263" r:id="rId4"/>
    <p:sldId id="257" r:id="rId5"/>
    <p:sldId id="258" r:id="rId6"/>
    <p:sldId id="259" r:id="rId7"/>
    <p:sldId id="260" r:id="rId8"/>
    <p:sldId id="264" r:id="rId15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71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B4FFA8-0019-4E30-9093-849F3C0150A2}" v="5" dt="2026-08-09T17:58:45.886"/>
    <p1510:client id="{F1D82566-D061-48CA-B548-98A3680D5D1E}" v="1" dt="2026-08-10T01:34:49.864"/>
  </p1510:revLst>
</p1510:revInfo>
</file>

<file path=ppt/tableStyles.xml><?xml version="1.0" encoding="utf-8"?>
<a:tblStyleLst xmlns:a="http://schemas.openxmlformats.org/drawingml/2006/main" def="{9DF099B6-6EFF-4FB2-BE50-0AFF8BF8D22E}">
  <a:tblStyle styleId="{9DF099B6-6EFF-4FB2-BE50-0AFF8BF8D2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19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6a83d3e5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6a83d3e58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3f6a83d3e58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26730" y="1504950"/>
            <a:ext cx="69495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lang="en-US" sz="4000" b="1" i="0" u="none" strike="noStrike" cap="none">
                <a:solidFill>
                  <a:srgbClr val="073763"/>
                </a:solidFill>
                <a:latin typeface="Cambria"/>
                <a:ea typeface="Cambria"/>
                <a:cs typeface="Cambria"/>
                <a:sym typeface="Cambria"/>
              </a:rPr>
              <a:t>How Nature Stores Information</a:t>
            </a:r>
            <a:endParaRPr sz="4000" b="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19230" y="2708845"/>
            <a:ext cx="69495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400"/>
              <a:buFont typeface="Cambria"/>
              <a:buNone/>
            </a:pPr>
            <a:r>
              <a:rPr lang="en-US" sz="2100" b="0" i="1" u="none" strike="noStrike" cap="none">
                <a:solidFill>
                  <a:srgbClr val="F4A261"/>
                </a:solidFill>
                <a:latin typeface="Cambria"/>
                <a:ea typeface="Cambria"/>
                <a:cs typeface="Cambria"/>
                <a:sym typeface="Cambria"/>
              </a:rPr>
              <a:t>DNA as Code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3"/>
          <p:cNvCxnSpPr/>
          <p:nvPr/>
        </p:nvCxnSpPr>
        <p:spPr>
          <a:xfrm>
            <a:off x="685800" y="3226615"/>
            <a:ext cx="2423100" cy="900"/>
          </a:xfrm>
          <a:prstGeom prst="straightConnector1">
            <a:avLst/>
          </a:prstGeom>
          <a:noFill/>
          <a:ln w="9525" cap="flat" cmpd="sng">
            <a:solidFill>
              <a:srgbClr val="2E4A7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/>
          <p:nvPr/>
        </p:nvSpPr>
        <p:spPr>
          <a:xfrm>
            <a:off x="685855" y="3436227"/>
            <a:ext cx="109800" cy="1098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749812" y="3308292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DNA &amp; RNA Structure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776450" y="3436239"/>
            <a:ext cx="109800" cy="1098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3864232" y="3308304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Replication &amp; Transcription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85843" y="4014222"/>
            <a:ext cx="109800" cy="1098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749812" y="3886274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Genetic Code &amp; Wobble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747988" y="4014247"/>
            <a:ext cx="109800" cy="1098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3864219" y="3886299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PCR Amplification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" name="Google Shape;27;p3"/>
          <p:cNvCxnSpPr/>
          <p:nvPr/>
        </p:nvCxnSpPr>
        <p:spPr>
          <a:xfrm flipH="1">
            <a:off x="9179897" y="800100"/>
            <a:ext cx="1574125" cy="914"/>
          </a:xfrm>
          <a:prstGeom prst="straightConnector1">
            <a:avLst/>
          </a:prstGeom>
          <a:noFill/>
          <a:ln w="22225" cap="flat" cmpd="sng">
            <a:solidFill>
              <a:srgbClr val="E4572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" name="Google Shape;28;p3"/>
          <p:cNvCxnSpPr/>
          <p:nvPr/>
        </p:nvCxnSpPr>
        <p:spPr>
          <a:xfrm flipH="1">
            <a:off x="9165665" y="1097280"/>
            <a:ext cx="1602590" cy="914"/>
          </a:xfrm>
          <a:prstGeom prst="straightConnector1">
            <a:avLst/>
          </a:prstGeom>
          <a:noFill/>
          <a:ln w="2222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" name="Google Shape;29;p3"/>
          <p:cNvCxnSpPr/>
          <p:nvPr/>
        </p:nvCxnSpPr>
        <p:spPr>
          <a:xfrm>
            <a:off x="9194907" y="1691640"/>
            <a:ext cx="1544107" cy="914"/>
          </a:xfrm>
          <a:prstGeom prst="straightConnector1">
            <a:avLst/>
          </a:prstGeom>
          <a:noFill/>
          <a:ln w="22225" cap="flat" cmpd="sng">
            <a:solidFill>
              <a:srgbClr val="E4572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3"/>
          <p:cNvCxnSpPr/>
          <p:nvPr/>
        </p:nvCxnSpPr>
        <p:spPr>
          <a:xfrm>
            <a:off x="9152224" y="1988820"/>
            <a:ext cx="1629473" cy="914"/>
          </a:xfrm>
          <a:prstGeom prst="straightConnector1">
            <a:avLst/>
          </a:prstGeom>
          <a:noFill/>
          <a:ln w="2222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3"/>
          <p:cNvCxnSpPr/>
          <p:nvPr/>
        </p:nvCxnSpPr>
        <p:spPr>
          <a:xfrm flipH="1">
            <a:off x="9210678" y="2583180"/>
            <a:ext cx="1512565" cy="914"/>
          </a:xfrm>
          <a:prstGeom prst="straightConnector1">
            <a:avLst/>
          </a:prstGeom>
          <a:noFill/>
          <a:ln w="22225" cap="flat" cmpd="sng">
            <a:solidFill>
              <a:srgbClr val="E4572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" name="Google Shape;32;p3"/>
          <p:cNvCxnSpPr/>
          <p:nvPr/>
        </p:nvCxnSpPr>
        <p:spPr>
          <a:xfrm flipH="1">
            <a:off x="9139586" y="2880360"/>
            <a:ext cx="1654748" cy="914"/>
          </a:xfrm>
          <a:prstGeom prst="straightConnector1">
            <a:avLst/>
          </a:prstGeom>
          <a:noFill/>
          <a:ln w="2222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" name="Google Shape;33;p3"/>
          <p:cNvCxnSpPr/>
          <p:nvPr/>
        </p:nvCxnSpPr>
        <p:spPr>
          <a:xfrm>
            <a:off x="9227195" y="3474720"/>
            <a:ext cx="1479530" cy="914"/>
          </a:xfrm>
          <a:prstGeom prst="straightConnector1">
            <a:avLst/>
          </a:prstGeom>
          <a:noFill/>
          <a:ln w="22225" cap="flat" cmpd="sng">
            <a:solidFill>
              <a:srgbClr val="E4572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3"/>
          <p:cNvCxnSpPr/>
          <p:nvPr/>
        </p:nvCxnSpPr>
        <p:spPr>
          <a:xfrm>
            <a:off x="9127765" y="3771900"/>
            <a:ext cx="1678390" cy="914"/>
          </a:xfrm>
          <a:prstGeom prst="straightConnector1">
            <a:avLst/>
          </a:prstGeom>
          <a:noFill/>
          <a:ln w="2222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" name="Google Shape;35;p3"/>
          <p:cNvCxnSpPr/>
          <p:nvPr/>
        </p:nvCxnSpPr>
        <p:spPr>
          <a:xfrm flipH="1">
            <a:off x="9244442" y="4366260"/>
            <a:ext cx="1445035" cy="914"/>
          </a:xfrm>
          <a:prstGeom prst="straightConnector1">
            <a:avLst/>
          </a:prstGeom>
          <a:noFill/>
          <a:ln w="22225" cap="flat" cmpd="sng">
            <a:solidFill>
              <a:srgbClr val="E4572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3"/>
          <p:cNvCxnSpPr/>
          <p:nvPr/>
        </p:nvCxnSpPr>
        <p:spPr>
          <a:xfrm flipH="1">
            <a:off x="9116772" y="4663440"/>
            <a:ext cx="1700375" cy="914"/>
          </a:xfrm>
          <a:prstGeom prst="straightConnector1">
            <a:avLst/>
          </a:prstGeom>
          <a:noFill/>
          <a:ln w="2222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3"/>
          <p:cNvCxnSpPr/>
          <p:nvPr/>
        </p:nvCxnSpPr>
        <p:spPr>
          <a:xfrm>
            <a:off x="9262403" y="5257800"/>
            <a:ext cx="1409115" cy="914"/>
          </a:xfrm>
          <a:prstGeom prst="straightConnector1">
            <a:avLst/>
          </a:prstGeom>
          <a:noFill/>
          <a:ln w="22225" cap="flat" cmpd="sng">
            <a:solidFill>
              <a:srgbClr val="E4572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3"/>
          <p:cNvCxnSpPr/>
          <p:nvPr/>
        </p:nvCxnSpPr>
        <p:spPr>
          <a:xfrm>
            <a:off x="9106619" y="5554980"/>
            <a:ext cx="1720683" cy="914"/>
          </a:xfrm>
          <a:prstGeom prst="straightConnector1">
            <a:avLst/>
          </a:prstGeom>
          <a:noFill/>
          <a:ln w="2222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3"/>
          <p:cNvCxnSpPr/>
          <p:nvPr/>
        </p:nvCxnSpPr>
        <p:spPr>
          <a:xfrm>
            <a:off x="9795619" y="5852160"/>
            <a:ext cx="342683" cy="914"/>
          </a:xfrm>
          <a:prstGeom prst="straightConnector1">
            <a:avLst/>
          </a:prstGeom>
          <a:noFill/>
          <a:ln w="22225" cap="flat" cmpd="sng">
            <a:solidFill>
              <a:srgbClr val="E4572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3"/>
          <p:cNvCxnSpPr/>
          <p:nvPr/>
        </p:nvCxnSpPr>
        <p:spPr>
          <a:xfrm flipH="1">
            <a:off x="9281058" y="6149340"/>
            <a:ext cx="1371803" cy="914"/>
          </a:xfrm>
          <a:prstGeom prst="straightConnector1">
            <a:avLst/>
          </a:prstGeom>
          <a:noFill/>
          <a:ln w="2222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3"/>
          <p:cNvCxnSpPr/>
          <p:nvPr/>
        </p:nvCxnSpPr>
        <p:spPr>
          <a:xfrm flipH="1">
            <a:off x="9097314" y="6446520"/>
            <a:ext cx="1739292" cy="914"/>
          </a:xfrm>
          <a:prstGeom prst="straightConnector1">
            <a:avLst/>
          </a:prstGeom>
          <a:noFill/>
          <a:ln w="22225" cap="flat" cmpd="sng">
            <a:solidFill>
              <a:srgbClr val="E4572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" name="Google Shape;42;p3"/>
          <p:cNvCxnSpPr/>
          <p:nvPr/>
        </p:nvCxnSpPr>
        <p:spPr>
          <a:xfrm>
            <a:off x="9966960" y="502920"/>
            <a:ext cx="309742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" name="Google Shape;43;p3"/>
          <p:cNvCxnSpPr/>
          <p:nvPr/>
        </p:nvCxnSpPr>
        <p:spPr>
          <a:xfrm>
            <a:off x="10276702" y="601980"/>
            <a:ext cx="273119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" name="Google Shape;44;p3"/>
          <p:cNvCxnSpPr/>
          <p:nvPr/>
        </p:nvCxnSpPr>
        <p:spPr>
          <a:xfrm>
            <a:off x="10549820" y="701040"/>
            <a:ext cx="204202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3"/>
          <p:cNvCxnSpPr/>
          <p:nvPr/>
        </p:nvCxnSpPr>
        <p:spPr>
          <a:xfrm>
            <a:off x="10754023" y="800100"/>
            <a:ext cx="111141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" name="Google Shape;46;p3"/>
          <p:cNvCxnSpPr/>
          <p:nvPr/>
        </p:nvCxnSpPr>
        <p:spPr>
          <a:xfrm>
            <a:off x="10865163" y="899160"/>
            <a:ext cx="4939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" name="Google Shape;47;p3"/>
          <p:cNvCxnSpPr/>
          <p:nvPr/>
        </p:nvCxnSpPr>
        <p:spPr>
          <a:xfrm flipH="1">
            <a:off x="10768255" y="998220"/>
            <a:ext cx="101847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" name="Google Shape;48;p3"/>
          <p:cNvCxnSpPr/>
          <p:nvPr/>
        </p:nvCxnSpPr>
        <p:spPr>
          <a:xfrm flipH="1">
            <a:off x="10571664" y="1097280"/>
            <a:ext cx="196591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" name="Google Shape;49;p3"/>
          <p:cNvCxnSpPr/>
          <p:nvPr/>
        </p:nvCxnSpPr>
        <p:spPr>
          <a:xfrm flipH="1">
            <a:off x="10303573" y="1196340"/>
            <a:ext cx="268090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" name="Google Shape;50;p3"/>
          <p:cNvCxnSpPr/>
          <p:nvPr/>
        </p:nvCxnSpPr>
        <p:spPr>
          <a:xfrm flipH="1">
            <a:off x="9995682" y="1295400"/>
            <a:ext cx="307891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" name="Google Shape;51;p3"/>
          <p:cNvCxnSpPr/>
          <p:nvPr/>
        </p:nvCxnSpPr>
        <p:spPr>
          <a:xfrm flipH="1">
            <a:off x="9684395" y="1394460"/>
            <a:ext cx="311287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" name="Google Shape;52;p3"/>
          <p:cNvCxnSpPr/>
          <p:nvPr/>
        </p:nvCxnSpPr>
        <p:spPr>
          <a:xfrm flipH="1">
            <a:off x="9406518" y="1493520"/>
            <a:ext cx="277877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" name="Google Shape;53;p3"/>
          <p:cNvCxnSpPr/>
          <p:nvPr/>
        </p:nvCxnSpPr>
        <p:spPr>
          <a:xfrm flipH="1">
            <a:off x="9194907" y="1592580"/>
            <a:ext cx="211611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" name="Google Shape;54;p3"/>
          <p:cNvCxnSpPr/>
          <p:nvPr/>
        </p:nvCxnSpPr>
        <p:spPr>
          <a:xfrm flipH="1">
            <a:off x="9074582" y="1691640"/>
            <a:ext cx="120325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5" name="Google Shape;55;p3"/>
          <p:cNvCxnSpPr/>
          <p:nvPr/>
        </p:nvCxnSpPr>
        <p:spPr>
          <a:xfrm flipH="1">
            <a:off x="9059770" y="1790700"/>
            <a:ext cx="14811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" name="Google Shape;56;p3"/>
          <p:cNvCxnSpPr/>
          <p:nvPr/>
        </p:nvCxnSpPr>
        <p:spPr>
          <a:xfrm>
            <a:off x="9059770" y="1889760"/>
            <a:ext cx="92453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3"/>
          <p:cNvCxnSpPr/>
          <p:nvPr/>
        </p:nvCxnSpPr>
        <p:spPr>
          <a:xfrm>
            <a:off x="9152224" y="1988820"/>
            <a:ext cx="188786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3"/>
          <p:cNvCxnSpPr/>
          <p:nvPr/>
        </p:nvCxnSpPr>
        <p:spPr>
          <a:xfrm>
            <a:off x="9341010" y="2087880"/>
            <a:ext cx="262798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" name="Google Shape;59;p3"/>
          <p:cNvCxnSpPr/>
          <p:nvPr/>
        </p:nvCxnSpPr>
        <p:spPr>
          <a:xfrm>
            <a:off x="9603808" y="2186940"/>
            <a:ext cx="305736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" name="Google Shape;60;p3"/>
          <p:cNvCxnSpPr/>
          <p:nvPr/>
        </p:nvCxnSpPr>
        <p:spPr>
          <a:xfrm>
            <a:off x="9909544" y="2286000"/>
            <a:ext cx="312525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" name="Google Shape;61;p3"/>
          <p:cNvCxnSpPr/>
          <p:nvPr/>
        </p:nvCxnSpPr>
        <p:spPr>
          <a:xfrm>
            <a:off x="10222069" y="2385060"/>
            <a:ext cx="282361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3"/>
          <p:cNvCxnSpPr/>
          <p:nvPr/>
        </p:nvCxnSpPr>
        <p:spPr>
          <a:xfrm>
            <a:off x="10504431" y="2484120"/>
            <a:ext cx="218812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" name="Google Shape;63;p3"/>
          <p:cNvCxnSpPr/>
          <p:nvPr/>
        </p:nvCxnSpPr>
        <p:spPr>
          <a:xfrm>
            <a:off x="10723242" y="2583180"/>
            <a:ext cx="129390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" name="Google Shape;64;p3"/>
          <p:cNvCxnSpPr/>
          <p:nvPr/>
        </p:nvCxnSpPr>
        <p:spPr>
          <a:xfrm>
            <a:off x="10852632" y="2682240"/>
            <a:ext cx="24669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" name="Google Shape;65;p3"/>
          <p:cNvCxnSpPr/>
          <p:nvPr/>
        </p:nvCxnSpPr>
        <p:spPr>
          <a:xfrm flipH="1">
            <a:off x="10794334" y="2781300"/>
            <a:ext cx="82968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" name="Google Shape;66;p3"/>
          <p:cNvCxnSpPr/>
          <p:nvPr/>
        </p:nvCxnSpPr>
        <p:spPr>
          <a:xfrm flipH="1">
            <a:off x="10613538" y="2880360"/>
            <a:ext cx="180795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" name="Google Shape;67;p3"/>
          <p:cNvCxnSpPr/>
          <p:nvPr/>
        </p:nvCxnSpPr>
        <p:spPr>
          <a:xfrm flipH="1">
            <a:off x="10356293" y="2979420"/>
            <a:ext cx="257246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" name="Google Shape;68;p3"/>
          <p:cNvCxnSpPr/>
          <p:nvPr/>
        </p:nvCxnSpPr>
        <p:spPr>
          <a:xfrm flipH="1">
            <a:off x="10053013" y="3078480"/>
            <a:ext cx="303280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" name="Google Shape;69;p3"/>
          <p:cNvCxnSpPr/>
          <p:nvPr/>
        </p:nvCxnSpPr>
        <p:spPr>
          <a:xfrm flipH="1">
            <a:off x="9739558" y="3177540"/>
            <a:ext cx="313455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" name="Google Shape;70;p3"/>
          <p:cNvCxnSpPr/>
          <p:nvPr/>
        </p:nvCxnSpPr>
        <p:spPr>
          <a:xfrm flipH="1">
            <a:off x="9452991" y="3276600"/>
            <a:ext cx="286567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" name="Google Shape;71;p3"/>
          <p:cNvCxnSpPr/>
          <p:nvPr/>
        </p:nvCxnSpPr>
        <p:spPr>
          <a:xfrm flipH="1">
            <a:off x="9227195" y="3375660"/>
            <a:ext cx="225796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" name="Google Shape;72;p3"/>
          <p:cNvCxnSpPr/>
          <p:nvPr/>
        </p:nvCxnSpPr>
        <p:spPr>
          <a:xfrm flipH="1">
            <a:off x="9088867" y="3474720"/>
            <a:ext cx="138327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" name="Google Shape;73;p3"/>
          <p:cNvCxnSpPr/>
          <p:nvPr/>
        </p:nvCxnSpPr>
        <p:spPr>
          <a:xfrm flipH="1">
            <a:off x="9054364" y="3573780"/>
            <a:ext cx="34503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" name="Google Shape;74;p3"/>
          <p:cNvCxnSpPr/>
          <p:nvPr/>
        </p:nvCxnSpPr>
        <p:spPr>
          <a:xfrm>
            <a:off x="9054364" y="3672840"/>
            <a:ext cx="73401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" name="Google Shape;75;p3"/>
          <p:cNvCxnSpPr/>
          <p:nvPr/>
        </p:nvCxnSpPr>
        <p:spPr>
          <a:xfrm>
            <a:off x="9127765" y="3771900"/>
            <a:ext cx="172626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3"/>
          <p:cNvCxnSpPr/>
          <p:nvPr/>
        </p:nvCxnSpPr>
        <p:spPr>
          <a:xfrm>
            <a:off x="9300391" y="3870960"/>
            <a:ext cx="251440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" name="Google Shape;77;p3"/>
          <p:cNvCxnSpPr/>
          <p:nvPr/>
        </p:nvCxnSpPr>
        <p:spPr>
          <a:xfrm>
            <a:off x="9551831" y="3970020"/>
            <a:ext cx="300524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" name="Google Shape;78;p3"/>
          <p:cNvCxnSpPr/>
          <p:nvPr/>
        </p:nvCxnSpPr>
        <p:spPr>
          <a:xfrm>
            <a:off x="9852355" y="4069080"/>
            <a:ext cx="314075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" name="Google Shape;79;p3"/>
          <p:cNvCxnSpPr/>
          <p:nvPr/>
        </p:nvCxnSpPr>
        <p:spPr>
          <a:xfrm>
            <a:off x="10166430" y="4168140"/>
            <a:ext cx="290490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0" name="Google Shape;80;p3"/>
          <p:cNvCxnSpPr/>
          <p:nvPr/>
        </p:nvCxnSpPr>
        <p:spPr>
          <a:xfrm>
            <a:off x="10456920" y="4267200"/>
            <a:ext cx="232558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1" name="Google Shape;81;p3"/>
          <p:cNvCxnSpPr/>
          <p:nvPr/>
        </p:nvCxnSpPr>
        <p:spPr>
          <a:xfrm>
            <a:off x="10689478" y="4366260"/>
            <a:ext cx="147128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2" name="Google Shape;82;p3"/>
          <p:cNvCxnSpPr/>
          <p:nvPr/>
        </p:nvCxnSpPr>
        <p:spPr>
          <a:xfrm>
            <a:off x="10836606" y="4465320"/>
            <a:ext cx="44303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" name="Google Shape;83;p3"/>
          <p:cNvCxnSpPr/>
          <p:nvPr/>
        </p:nvCxnSpPr>
        <p:spPr>
          <a:xfrm flipH="1">
            <a:off x="10817148" y="4564380"/>
            <a:ext cx="63761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" name="Google Shape;84;p3"/>
          <p:cNvCxnSpPr/>
          <p:nvPr/>
        </p:nvCxnSpPr>
        <p:spPr>
          <a:xfrm flipH="1">
            <a:off x="10652862" y="4663440"/>
            <a:ext cx="164286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" name="Google Shape;85;p3"/>
          <p:cNvCxnSpPr/>
          <p:nvPr/>
        </p:nvCxnSpPr>
        <p:spPr>
          <a:xfrm flipH="1">
            <a:off x="10407476" y="4762500"/>
            <a:ext cx="245386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" name="Google Shape;86;p3"/>
          <p:cNvCxnSpPr/>
          <p:nvPr/>
        </p:nvCxnSpPr>
        <p:spPr>
          <a:xfrm flipH="1">
            <a:off x="10110004" y="4861560"/>
            <a:ext cx="297472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" name="Google Shape;87;p3"/>
          <p:cNvCxnSpPr/>
          <p:nvPr/>
        </p:nvCxnSpPr>
        <p:spPr>
          <a:xfrm flipH="1">
            <a:off x="9795619" y="4960620"/>
            <a:ext cx="314385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" name="Google Shape;88;p3"/>
          <p:cNvCxnSpPr/>
          <p:nvPr/>
        </p:nvCxnSpPr>
        <p:spPr>
          <a:xfrm flipH="1">
            <a:off x="9501493" y="5059680"/>
            <a:ext cx="294126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" name="Google Shape;89;p3"/>
          <p:cNvCxnSpPr/>
          <p:nvPr/>
        </p:nvCxnSpPr>
        <p:spPr>
          <a:xfrm flipH="1">
            <a:off x="9262403" y="5158740"/>
            <a:ext cx="239090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" name="Google Shape;90;p3"/>
          <p:cNvCxnSpPr/>
          <p:nvPr/>
        </p:nvCxnSpPr>
        <p:spPr>
          <a:xfrm flipH="1">
            <a:off x="9106619" y="5257800"/>
            <a:ext cx="155784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" name="Google Shape;91;p3"/>
          <p:cNvCxnSpPr/>
          <p:nvPr/>
        </p:nvCxnSpPr>
        <p:spPr>
          <a:xfrm flipH="1">
            <a:off x="9052560" y="5356860"/>
            <a:ext cx="54059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" name="Google Shape;92;p3"/>
          <p:cNvCxnSpPr/>
          <p:nvPr/>
        </p:nvCxnSpPr>
        <p:spPr>
          <a:xfrm>
            <a:off x="9052560" y="5455920"/>
            <a:ext cx="54059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" name="Google Shape;93;p3"/>
          <p:cNvCxnSpPr/>
          <p:nvPr/>
        </p:nvCxnSpPr>
        <p:spPr>
          <a:xfrm>
            <a:off x="9106619" y="5554980"/>
            <a:ext cx="155784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" name="Google Shape;94;p3"/>
          <p:cNvCxnSpPr/>
          <p:nvPr/>
        </p:nvCxnSpPr>
        <p:spPr>
          <a:xfrm>
            <a:off x="9262403" y="5654040"/>
            <a:ext cx="239090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5" name="Google Shape;95;p3"/>
          <p:cNvCxnSpPr/>
          <p:nvPr/>
        </p:nvCxnSpPr>
        <p:spPr>
          <a:xfrm>
            <a:off x="9501493" y="5753100"/>
            <a:ext cx="294126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" name="Google Shape;96;p3"/>
          <p:cNvCxnSpPr/>
          <p:nvPr/>
        </p:nvCxnSpPr>
        <p:spPr>
          <a:xfrm>
            <a:off x="9795619" y="5852160"/>
            <a:ext cx="314385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" name="Google Shape;97;p3"/>
          <p:cNvCxnSpPr/>
          <p:nvPr/>
        </p:nvCxnSpPr>
        <p:spPr>
          <a:xfrm>
            <a:off x="10110004" y="5951220"/>
            <a:ext cx="297472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" name="Google Shape;98;p3"/>
          <p:cNvCxnSpPr/>
          <p:nvPr/>
        </p:nvCxnSpPr>
        <p:spPr>
          <a:xfrm>
            <a:off x="10407476" y="6050280"/>
            <a:ext cx="245386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" name="Google Shape;99;p3"/>
          <p:cNvCxnSpPr/>
          <p:nvPr/>
        </p:nvCxnSpPr>
        <p:spPr>
          <a:xfrm>
            <a:off x="10652862" y="6149340"/>
            <a:ext cx="164286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" name="Google Shape;100;p3"/>
          <p:cNvCxnSpPr/>
          <p:nvPr/>
        </p:nvCxnSpPr>
        <p:spPr>
          <a:xfrm>
            <a:off x="10817148" y="6248400"/>
            <a:ext cx="63761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1" name="Google Shape;101;p3"/>
          <p:cNvCxnSpPr/>
          <p:nvPr/>
        </p:nvCxnSpPr>
        <p:spPr>
          <a:xfrm flipH="1">
            <a:off x="10836606" y="6347460"/>
            <a:ext cx="44303" cy="99060"/>
          </a:xfrm>
          <a:prstGeom prst="straightConnector1">
            <a:avLst/>
          </a:prstGeom>
          <a:noFill/>
          <a:ln w="41275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" name="Google Shape;102;p3"/>
          <p:cNvCxnSpPr/>
          <p:nvPr/>
        </p:nvCxnSpPr>
        <p:spPr>
          <a:xfrm flipH="1">
            <a:off x="9657218" y="502920"/>
            <a:ext cx="309742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" name="Google Shape;103;p3"/>
          <p:cNvCxnSpPr/>
          <p:nvPr/>
        </p:nvCxnSpPr>
        <p:spPr>
          <a:xfrm flipH="1">
            <a:off x="9384100" y="601980"/>
            <a:ext cx="273119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" name="Google Shape;104;p3"/>
          <p:cNvCxnSpPr/>
          <p:nvPr/>
        </p:nvCxnSpPr>
        <p:spPr>
          <a:xfrm flipH="1">
            <a:off x="9179897" y="701040"/>
            <a:ext cx="204202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" name="Google Shape;105;p3"/>
          <p:cNvCxnSpPr/>
          <p:nvPr/>
        </p:nvCxnSpPr>
        <p:spPr>
          <a:xfrm flipH="1">
            <a:off x="9068757" y="800100"/>
            <a:ext cx="111141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" name="Google Shape;106;p3"/>
          <p:cNvCxnSpPr/>
          <p:nvPr/>
        </p:nvCxnSpPr>
        <p:spPr>
          <a:xfrm flipH="1">
            <a:off x="9063818" y="899160"/>
            <a:ext cx="4939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7" name="Google Shape;107;p3"/>
          <p:cNvCxnSpPr/>
          <p:nvPr/>
        </p:nvCxnSpPr>
        <p:spPr>
          <a:xfrm>
            <a:off x="9063818" y="998220"/>
            <a:ext cx="101847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8" name="Google Shape;108;p3"/>
          <p:cNvCxnSpPr/>
          <p:nvPr/>
        </p:nvCxnSpPr>
        <p:spPr>
          <a:xfrm>
            <a:off x="9165665" y="1097280"/>
            <a:ext cx="196591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" name="Google Shape;109;p3"/>
          <p:cNvCxnSpPr/>
          <p:nvPr/>
        </p:nvCxnSpPr>
        <p:spPr>
          <a:xfrm>
            <a:off x="9362256" y="1196340"/>
            <a:ext cx="268090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" name="Google Shape;110;p3"/>
          <p:cNvCxnSpPr/>
          <p:nvPr/>
        </p:nvCxnSpPr>
        <p:spPr>
          <a:xfrm>
            <a:off x="9630347" y="1295400"/>
            <a:ext cx="307891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" name="Google Shape;111;p3"/>
          <p:cNvCxnSpPr/>
          <p:nvPr/>
        </p:nvCxnSpPr>
        <p:spPr>
          <a:xfrm>
            <a:off x="9938238" y="1394460"/>
            <a:ext cx="311287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" name="Google Shape;112;p3"/>
          <p:cNvCxnSpPr/>
          <p:nvPr/>
        </p:nvCxnSpPr>
        <p:spPr>
          <a:xfrm>
            <a:off x="10249525" y="1493520"/>
            <a:ext cx="277877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" name="Google Shape;113;p3"/>
          <p:cNvCxnSpPr/>
          <p:nvPr/>
        </p:nvCxnSpPr>
        <p:spPr>
          <a:xfrm>
            <a:off x="10527402" y="1592580"/>
            <a:ext cx="211611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4" name="Google Shape;114;p3"/>
          <p:cNvCxnSpPr/>
          <p:nvPr/>
        </p:nvCxnSpPr>
        <p:spPr>
          <a:xfrm>
            <a:off x="10739013" y="1691640"/>
            <a:ext cx="120325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5" name="Google Shape;115;p3"/>
          <p:cNvCxnSpPr/>
          <p:nvPr/>
        </p:nvCxnSpPr>
        <p:spPr>
          <a:xfrm>
            <a:off x="10859338" y="1790700"/>
            <a:ext cx="14811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" name="Google Shape;116;p3"/>
          <p:cNvCxnSpPr/>
          <p:nvPr/>
        </p:nvCxnSpPr>
        <p:spPr>
          <a:xfrm flipH="1">
            <a:off x="10781696" y="1889760"/>
            <a:ext cx="92453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" name="Google Shape;117;p3"/>
          <p:cNvCxnSpPr/>
          <p:nvPr/>
        </p:nvCxnSpPr>
        <p:spPr>
          <a:xfrm flipH="1">
            <a:off x="10592910" y="1988820"/>
            <a:ext cx="188786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" name="Google Shape;118;p3"/>
          <p:cNvCxnSpPr/>
          <p:nvPr/>
        </p:nvCxnSpPr>
        <p:spPr>
          <a:xfrm flipH="1">
            <a:off x="10330112" y="2087880"/>
            <a:ext cx="262798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" name="Google Shape;119;p3"/>
          <p:cNvCxnSpPr/>
          <p:nvPr/>
        </p:nvCxnSpPr>
        <p:spPr>
          <a:xfrm flipH="1">
            <a:off x="10024376" y="2186940"/>
            <a:ext cx="305736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0" name="Google Shape;120;p3"/>
          <p:cNvCxnSpPr/>
          <p:nvPr/>
        </p:nvCxnSpPr>
        <p:spPr>
          <a:xfrm flipH="1">
            <a:off x="9711851" y="2286000"/>
            <a:ext cx="312525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1" name="Google Shape;121;p3"/>
          <p:cNvCxnSpPr/>
          <p:nvPr/>
        </p:nvCxnSpPr>
        <p:spPr>
          <a:xfrm flipH="1">
            <a:off x="9429489" y="2385060"/>
            <a:ext cx="282361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2" name="Google Shape;122;p3"/>
          <p:cNvCxnSpPr/>
          <p:nvPr/>
        </p:nvCxnSpPr>
        <p:spPr>
          <a:xfrm flipH="1">
            <a:off x="9210678" y="2484120"/>
            <a:ext cx="218812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" name="Google Shape;123;p3"/>
          <p:cNvCxnSpPr/>
          <p:nvPr/>
        </p:nvCxnSpPr>
        <p:spPr>
          <a:xfrm flipH="1">
            <a:off x="9081288" y="2583180"/>
            <a:ext cx="129390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4" name="Google Shape;124;p3"/>
          <p:cNvCxnSpPr/>
          <p:nvPr/>
        </p:nvCxnSpPr>
        <p:spPr>
          <a:xfrm flipH="1">
            <a:off x="9056618" y="2682240"/>
            <a:ext cx="24669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5" name="Google Shape;125;p3"/>
          <p:cNvCxnSpPr/>
          <p:nvPr/>
        </p:nvCxnSpPr>
        <p:spPr>
          <a:xfrm>
            <a:off x="9056618" y="2781300"/>
            <a:ext cx="82968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6" name="Google Shape;126;p3"/>
          <p:cNvCxnSpPr/>
          <p:nvPr/>
        </p:nvCxnSpPr>
        <p:spPr>
          <a:xfrm>
            <a:off x="9139586" y="2880360"/>
            <a:ext cx="180795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7" name="Google Shape;127;p3"/>
          <p:cNvCxnSpPr/>
          <p:nvPr/>
        </p:nvCxnSpPr>
        <p:spPr>
          <a:xfrm>
            <a:off x="9320382" y="2979420"/>
            <a:ext cx="257246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" name="Google Shape;128;p3"/>
          <p:cNvCxnSpPr/>
          <p:nvPr/>
        </p:nvCxnSpPr>
        <p:spPr>
          <a:xfrm>
            <a:off x="9577627" y="3078480"/>
            <a:ext cx="303280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" name="Google Shape;129;p3"/>
          <p:cNvCxnSpPr/>
          <p:nvPr/>
        </p:nvCxnSpPr>
        <p:spPr>
          <a:xfrm>
            <a:off x="9880907" y="3177540"/>
            <a:ext cx="313455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0" name="Google Shape;130;p3"/>
          <p:cNvCxnSpPr/>
          <p:nvPr/>
        </p:nvCxnSpPr>
        <p:spPr>
          <a:xfrm>
            <a:off x="10194362" y="3276600"/>
            <a:ext cx="286567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1" name="Google Shape;131;p3"/>
          <p:cNvCxnSpPr/>
          <p:nvPr/>
        </p:nvCxnSpPr>
        <p:spPr>
          <a:xfrm>
            <a:off x="10480929" y="3375660"/>
            <a:ext cx="225796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2" name="Google Shape;132;p3"/>
          <p:cNvCxnSpPr/>
          <p:nvPr/>
        </p:nvCxnSpPr>
        <p:spPr>
          <a:xfrm>
            <a:off x="10706725" y="3474720"/>
            <a:ext cx="138327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" name="Google Shape;133;p3"/>
          <p:cNvCxnSpPr/>
          <p:nvPr/>
        </p:nvCxnSpPr>
        <p:spPr>
          <a:xfrm>
            <a:off x="10845053" y="3573780"/>
            <a:ext cx="34503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4" name="Google Shape;134;p3"/>
          <p:cNvCxnSpPr/>
          <p:nvPr/>
        </p:nvCxnSpPr>
        <p:spPr>
          <a:xfrm flipH="1">
            <a:off x="10806155" y="3672840"/>
            <a:ext cx="73401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5" name="Google Shape;135;p3"/>
          <p:cNvCxnSpPr/>
          <p:nvPr/>
        </p:nvCxnSpPr>
        <p:spPr>
          <a:xfrm flipH="1">
            <a:off x="10633529" y="3771900"/>
            <a:ext cx="172626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" name="Google Shape;136;p3"/>
          <p:cNvCxnSpPr/>
          <p:nvPr/>
        </p:nvCxnSpPr>
        <p:spPr>
          <a:xfrm flipH="1">
            <a:off x="10382089" y="3870960"/>
            <a:ext cx="251440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7" name="Google Shape;137;p3"/>
          <p:cNvCxnSpPr/>
          <p:nvPr/>
        </p:nvCxnSpPr>
        <p:spPr>
          <a:xfrm flipH="1">
            <a:off x="10081565" y="3970020"/>
            <a:ext cx="300524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8" name="Google Shape;138;p3"/>
          <p:cNvCxnSpPr/>
          <p:nvPr/>
        </p:nvCxnSpPr>
        <p:spPr>
          <a:xfrm flipH="1">
            <a:off x="9767490" y="4069080"/>
            <a:ext cx="314075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9" name="Google Shape;139;p3"/>
          <p:cNvCxnSpPr/>
          <p:nvPr/>
        </p:nvCxnSpPr>
        <p:spPr>
          <a:xfrm flipH="1">
            <a:off x="9477000" y="4168140"/>
            <a:ext cx="290490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0" name="Google Shape;140;p3"/>
          <p:cNvCxnSpPr/>
          <p:nvPr/>
        </p:nvCxnSpPr>
        <p:spPr>
          <a:xfrm flipH="1">
            <a:off x="9244442" y="4267200"/>
            <a:ext cx="232558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1" name="Google Shape;141;p3"/>
          <p:cNvCxnSpPr/>
          <p:nvPr/>
        </p:nvCxnSpPr>
        <p:spPr>
          <a:xfrm flipH="1">
            <a:off x="9097314" y="4366260"/>
            <a:ext cx="147128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2" name="Google Shape;142;p3"/>
          <p:cNvCxnSpPr/>
          <p:nvPr/>
        </p:nvCxnSpPr>
        <p:spPr>
          <a:xfrm flipH="1">
            <a:off x="9053011" y="4465320"/>
            <a:ext cx="44303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3" name="Google Shape;143;p3"/>
          <p:cNvCxnSpPr/>
          <p:nvPr/>
        </p:nvCxnSpPr>
        <p:spPr>
          <a:xfrm>
            <a:off x="9053011" y="4564380"/>
            <a:ext cx="63761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4" name="Google Shape;144;p3"/>
          <p:cNvCxnSpPr/>
          <p:nvPr/>
        </p:nvCxnSpPr>
        <p:spPr>
          <a:xfrm>
            <a:off x="9116772" y="4663440"/>
            <a:ext cx="164286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" name="Google Shape;145;p3"/>
          <p:cNvCxnSpPr/>
          <p:nvPr/>
        </p:nvCxnSpPr>
        <p:spPr>
          <a:xfrm>
            <a:off x="9281058" y="4762500"/>
            <a:ext cx="245386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6" name="Google Shape;146;p3"/>
          <p:cNvCxnSpPr/>
          <p:nvPr/>
        </p:nvCxnSpPr>
        <p:spPr>
          <a:xfrm>
            <a:off x="9526444" y="4861560"/>
            <a:ext cx="297472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7" name="Google Shape;147;p3"/>
          <p:cNvCxnSpPr/>
          <p:nvPr/>
        </p:nvCxnSpPr>
        <p:spPr>
          <a:xfrm>
            <a:off x="9823916" y="4960620"/>
            <a:ext cx="314385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8" name="Google Shape;148;p3"/>
          <p:cNvCxnSpPr/>
          <p:nvPr/>
        </p:nvCxnSpPr>
        <p:spPr>
          <a:xfrm>
            <a:off x="10138301" y="5059680"/>
            <a:ext cx="294126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9" name="Google Shape;149;p3"/>
          <p:cNvCxnSpPr/>
          <p:nvPr/>
        </p:nvCxnSpPr>
        <p:spPr>
          <a:xfrm>
            <a:off x="10432427" y="5158740"/>
            <a:ext cx="239090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0" name="Google Shape;150;p3"/>
          <p:cNvCxnSpPr/>
          <p:nvPr/>
        </p:nvCxnSpPr>
        <p:spPr>
          <a:xfrm>
            <a:off x="10671517" y="5257800"/>
            <a:ext cx="155784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1" name="Google Shape;151;p3"/>
          <p:cNvCxnSpPr/>
          <p:nvPr/>
        </p:nvCxnSpPr>
        <p:spPr>
          <a:xfrm>
            <a:off x="10827301" y="5356860"/>
            <a:ext cx="54059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2" name="Google Shape;152;p3"/>
          <p:cNvCxnSpPr/>
          <p:nvPr/>
        </p:nvCxnSpPr>
        <p:spPr>
          <a:xfrm flipH="1">
            <a:off x="10827301" y="5455920"/>
            <a:ext cx="54059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" name="Google Shape;153;p3"/>
          <p:cNvCxnSpPr/>
          <p:nvPr/>
        </p:nvCxnSpPr>
        <p:spPr>
          <a:xfrm flipH="1">
            <a:off x="10671517" y="5554980"/>
            <a:ext cx="155784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4" name="Google Shape;154;p3"/>
          <p:cNvCxnSpPr/>
          <p:nvPr/>
        </p:nvCxnSpPr>
        <p:spPr>
          <a:xfrm flipH="1">
            <a:off x="10432427" y="5654040"/>
            <a:ext cx="239090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5" name="Google Shape;155;p3"/>
          <p:cNvCxnSpPr/>
          <p:nvPr/>
        </p:nvCxnSpPr>
        <p:spPr>
          <a:xfrm flipH="1">
            <a:off x="10138301" y="5753100"/>
            <a:ext cx="294126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" name="Google Shape;156;p3"/>
          <p:cNvCxnSpPr/>
          <p:nvPr/>
        </p:nvCxnSpPr>
        <p:spPr>
          <a:xfrm flipH="1">
            <a:off x="9823916" y="5852160"/>
            <a:ext cx="314385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" name="Google Shape;157;p3"/>
          <p:cNvCxnSpPr/>
          <p:nvPr/>
        </p:nvCxnSpPr>
        <p:spPr>
          <a:xfrm flipH="1">
            <a:off x="9526444" y="5951220"/>
            <a:ext cx="297472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Google Shape;158;p3"/>
          <p:cNvCxnSpPr/>
          <p:nvPr/>
        </p:nvCxnSpPr>
        <p:spPr>
          <a:xfrm flipH="1">
            <a:off x="9281058" y="6050280"/>
            <a:ext cx="245386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Google Shape;159;p3"/>
          <p:cNvCxnSpPr/>
          <p:nvPr/>
        </p:nvCxnSpPr>
        <p:spPr>
          <a:xfrm flipH="1">
            <a:off x="9116772" y="6149340"/>
            <a:ext cx="164286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Google Shape;160;p3"/>
          <p:cNvCxnSpPr/>
          <p:nvPr/>
        </p:nvCxnSpPr>
        <p:spPr>
          <a:xfrm flipH="1">
            <a:off x="9053011" y="6248400"/>
            <a:ext cx="63761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1" name="Google Shape;161;p3"/>
          <p:cNvCxnSpPr/>
          <p:nvPr/>
        </p:nvCxnSpPr>
        <p:spPr>
          <a:xfrm>
            <a:off x="9053011" y="6347460"/>
            <a:ext cx="44303" cy="99060"/>
          </a:xfrm>
          <a:prstGeom prst="straightConnector1">
            <a:avLst/>
          </a:prstGeom>
          <a:noFill/>
          <a:ln w="41275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" name="Google Shape;162;p3"/>
          <p:cNvSpPr/>
          <p:nvPr/>
        </p:nvSpPr>
        <p:spPr>
          <a:xfrm>
            <a:off x="9921240" y="457200"/>
            <a:ext cx="91440" cy="91440"/>
          </a:xfrm>
          <a:prstGeom prst="ellipse">
            <a:avLst/>
          </a:prstGeom>
          <a:solidFill>
            <a:srgbClr val="2CA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9921240" y="457200"/>
            <a:ext cx="91440" cy="914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10708303" y="754380"/>
            <a:ext cx="91440" cy="91440"/>
          </a:xfrm>
          <a:prstGeom prst="ellipse">
            <a:avLst/>
          </a:prstGeom>
          <a:solidFill>
            <a:srgbClr val="2CA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9134177" y="754380"/>
            <a:ext cx="91440" cy="914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10722535" y="1051560"/>
            <a:ext cx="91440" cy="91440"/>
          </a:xfrm>
          <a:prstGeom prst="ellipse">
            <a:avLst/>
          </a:prstGeom>
          <a:solidFill>
            <a:srgbClr val="2CA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9119945" y="1051560"/>
            <a:ext cx="91440" cy="914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9949962" y="1348740"/>
            <a:ext cx="91440" cy="91440"/>
          </a:xfrm>
          <a:prstGeom prst="ellipse">
            <a:avLst/>
          </a:prstGeom>
          <a:solidFill>
            <a:srgbClr val="2CA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"/>
          <p:cNvSpPr/>
          <p:nvPr/>
        </p:nvSpPr>
        <p:spPr>
          <a:xfrm>
            <a:off x="9892518" y="1348740"/>
            <a:ext cx="91440" cy="914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3"/>
          <p:cNvSpPr/>
          <p:nvPr/>
        </p:nvSpPr>
        <p:spPr>
          <a:xfrm>
            <a:off x="9149187" y="1645920"/>
            <a:ext cx="91440" cy="91440"/>
          </a:xfrm>
          <a:prstGeom prst="ellipse">
            <a:avLst/>
          </a:prstGeom>
          <a:solidFill>
            <a:srgbClr val="2CA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3"/>
          <p:cNvSpPr/>
          <p:nvPr/>
        </p:nvSpPr>
        <p:spPr>
          <a:xfrm>
            <a:off x="10693293" y="1645920"/>
            <a:ext cx="91440" cy="914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3"/>
          <p:cNvSpPr/>
          <p:nvPr/>
        </p:nvSpPr>
        <p:spPr>
          <a:xfrm>
            <a:off x="9106504" y="1943100"/>
            <a:ext cx="91440" cy="91440"/>
          </a:xfrm>
          <a:prstGeom prst="ellipse">
            <a:avLst/>
          </a:prstGeom>
          <a:solidFill>
            <a:srgbClr val="2CA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"/>
          <p:cNvSpPr/>
          <p:nvPr/>
        </p:nvSpPr>
        <p:spPr>
          <a:xfrm>
            <a:off x="10735976" y="1943100"/>
            <a:ext cx="91440" cy="914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"/>
          <p:cNvSpPr/>
          <p:nvPr/>
        </p:nvSpPr>
        <p:spPr>
          <a:xfrm>
            <a:off x="9863824" y="2240280"/>
            <a:ext cx="91440" cy="91440"/>
          </a:xfrm>
          <a:prstGeom prst="ellipse">
            <a:avLst/>
          </a:prstGeom>
          <a:solidFill>
            <a:srgbClr val="2CA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"/>
          <p:cNvSpPr/>
          <p:nvPr/>
        </p:nvSpPr>
        <p:spPr>
          <a:xfrm>
            <a:off x="9978656" y="2240280"/>
            <a:ext cx="91440" cy="914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"/>
          <p:cNvSpPr/>
          <p:nvPr/>
        </p:nvSpPr>
        <p:spPr>
          <a:xfrm>
            <a:off x="10677522" y="2537460"/>
            <a:ext cx="91440" cy="91440"/>
          </a:xfrm>
          <a:prstGeom prst="ellipse">
            <a:avLst/>
          </a:prstGeom>
          <a:solidFill>
            <a:srgbClr val="2CA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"/>
          <p:cNvSpPr/>
          <p:nvPr/>
        </p:nvSpPr>
        <p:spPr>
          <a:xfrm>
            <a:off x="9164958" y="2537460"/>
            <a:ext cx="91440" cy="914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"/>
          <p:cNvSpPr/>
          <p:nvPr/>
        </p:nvSpPr>
        <p:spPr>
          <a:xfrm>
            <a:off x="10748614" y="2834640"/>
            <a:ext cx="91440" cy="91440"/>
          </a:xfrm>
          <a:prstGeom prst="ellipse">
            <a:avLst/>
          </a:prstGeom>
          <a:solidFill>
            <a:srgbClr val="2CA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"/>
          <p:cNvSpPr/>
          <p:nvPr/>
        </p:nvSpPr>
        <p:spPr>
          <a:xfrm>
            <a:off x="9093866" y="2834640"/>
            <a:ext cx="91440" cy="914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"/>
          <p:cNvSpPr/>
          <p:nvPr/>
        </p:nvSpPr>
        <p:spPr>
          <a:xfrm>
            <a:off x="10007293" y="3131820"/>
            <a:ext cx="91440" cy="91440"/>
          </a:xfrm>
          <a:prstGeom prst="ellipse">
            <a:avLst/>
          </a:prstGeom>
          <a:solidFill>
            <a:srgbClr val="2CA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3"/>
          <p:cNvSpPr/>
          <p:nvPr/>
        </p:nvSpPr>
        <p:spPr>
          <a:xfrm>
            <a:off x="9835187" y="3131820"/>
            <a:ext cx="91440" cy="914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3"/>
          <p:cNvSpPr/>
          <p:nvPr/>
        </p:nvSpPr>
        <p:spPr>
          <a:xfrm>
            <a:off x="9181475" y="3429000"/>
            <a:ext cx="91440" cy="91440"/>
          </a:xfrm>
          <a:prstGeom prst="ellipse">
            <a:avLst/>
          </a:prstGeom>
          <a:solidFill>
            <a:srgbClr val="2CA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3"/>
          <p:cNvSpPr/>
          <p:nvPr/>
        </p:nvSpPr>
        <p:spPr>
          <a:xfrm>
            <a:off x="10661005" y="3429000"/>
            <a:ext cx="91440" cy="914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9082045" y="3726180"/>
            <a:ext cx="91440" cy="91440"/>
          </a:xfrm>
          <a:prstGeom prst="ellipse">
            <a:avLst/>
          </a:prstGeom>
          <a:solidFill>
            <a:srgbClr val="2CA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3"/>
          <p:cNvSpPr/>
          <p:nvPr/>
        </p:nvSpPr>
        <p:spPr>
          <a:xfrm>
            <a:off x="10760435" y="3726180"/>
            <a:ext cx="91440" cy="914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"/>
          <p:cNvSpPr/>
          <p:nvPr/>
        </p:nvSpPr>
        <p:spPr>
          <a:xfrm>
            <a:off x="9806635" y="4023360"/>
            <a:ext cx="91440" cy="91440"/>
          </a:xfrm>
          <a:prstGeom prst="ellipse">
            <a:avLst/>
          </a:prstGeom>
          <a:solidFill>
            <a:srgbClr val="2CA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3"/>
          <p:cNvSpPr/>
          <p:nvPr/>
        </p:nvSpPr>
        <p:spPr>
          <a:xfrm>
            <a:off x="10035845" y="4023360"/>
            <a:ext cx="91440" cy="914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"/>
          <p:cNvSpPr/>
          <p:nvPr/>
        </p:nvSpPr>
        <p:spPr>
          <a:xfrm>
            <a:off x="10643758" y="4320540"/>
            <a:ext cx="91440" cy="91440"/>
          </a:xfrm>
          <a:prstGeom prst="ellipse">
            <a:avLst/>
          </a:prstGeom>
          <a:solidFill>
            <a:srgbClr val="2CA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"/>
          <p:cNvSpPr/>
          <p:nvPr/>
        </p:nvSpPr>
        <p:spPr>
          <a:xfrm>
            <a:off x="9198722" y="4320540"/>
            <a:ext cx="91440" cy="914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3"/>
          <p:cNvSpPr/>
          <p:nvPr/>
        </p:nvSpPr>
        <p:spPr>
          <a:xfrm>
            <a:off x="10771428" y="4617720"/>
            <a:ext cx="91440" cy="91440"/>
          </a:xfrm>
          <a:prstGeom prst="ellipse">
            <a:avLst/>
          </a:prstGeom>
          <a:solidFill>
            <a:srgbClr val="2CA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3"/>
          <p:cNvSpPr/>
          <p:nvPr/>
        </p:nvSpPr>
        <p:spPr>
          <a:xfrm>
            <a:off x="9071052" y="4617720"/>
            <a:ext cx="91440" cy="914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3"/>
          <p:cNvSpPr/>
          <p:nvPr/>
        </p:nvSpPr>
        <p:spPr>
          <a:xfrm>
            <a:off x="10064284" y="4914900"/>
            <a:ext cx="91440" cy="91440"/>
          </a:xfrm>
          <a:prstGeom prst="ellipse">
            <a:avLst/>
          </a:prstGeom>
          <a:solidFill>
            <a:srgbClr val="2CA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3"/>
          <p:cNvSpPr/>
          <p:nvPr/>
        </p:nvSpPr>
        <p:spPr>
          <a:xfrm>
            <a:off x="9778196" y="4914900"/>
            <a:ext cx="91440" cy="914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3"/>
          <p:cNvSpPr/>
          <p:nvPr/>
        </p:nvSpPr>
        <p:spPr>
          <a:xfrm>
            <a:off x="9216683" y="5212080"/>
            <a:ext cx="91440" cy="91440"/>
          </a:xfrm>
          <a:prstGeom prst="ellipse">
            <a:avLst/>
          </a:prstGeom>
          <a:solidFill>
            <a:srgbClr val="2CA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3"/>
          <p:cNvSpPr/>
          <p:nvPr/>
        </p:nvSpPr>
        <p:spPr>
          <a:xfrm>
            <a:off x="10625797" y="5212080"/>
            <a:ext cx="91440" cy="914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3"/>
          <p:cNvSpPr/>
          <p:nvPr/>
        </p:nvSpPr>
        <p:spPr>
          <a:xfrm>
            <a:off x="9060899" y="5509260"/>
            <a:ext cx="91440" cy="91440"/>
          </a:xfrm>
          <a:prstGeom prst="ellipse">
            <a:avLst/>
          </a:prstGeom>
          <a:solidFill>
            <a:srgbClr val="2CA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"/>
          <p:cNvSpPr/>
          <p:nvPr/>
        </p:nvSpPr>
        <p:spPr>
          <a:xfrm>
            <a:off x="10781581" y="5509260"/>
            <a:ext cx="91440" cy="914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3"/>
          <p:cNvSpPr/>
          <p:nvPr/>
        </p:nvSpPr>
        <p:spPr>
          <a:xfrm>
            <a:off x="9749899" y="5806440"/>
            <a:ext cx="91440" cy="91440"/>
          </a:xfrm>
          <a:prstGeom prst="ellipse">
            <a:avLst/>
          </a:prstGeom>
          <a:solidFill>
            <a:srgbClr val="2CA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"/>
          <p:cNvSpPr/>
          <p:nvPr/>
        </p:nvSpPr>
        <p:spPr>
          <a:xfrm>
            <a:off x="10092581" y="5806440"/>
            <a:ext cx="91440" cy="914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3"/>
          <p:cNvSpPr/>
          <p:nvPr/>
        </p:nvSpPr>
        <p:spPr>
          <a:xfrm>
            <a:off x="10607142" y="6103620"/>
            <a:ext cx="91440" cy="91440"/>
          </a:xfrm>
          <a:prstGeom prst="ellipse">
            <a:avLst/>
          </a:prstGeom>
          <a:solidFill>
            <a:srgbClr val="2CA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3"/>
          <p:cNvSpPr/>
          <p:nvPr/>
        </p:nvSpPr>
        <p:spPr>
          <a:xfrm>
            <a:off x="9235338" y="6103620"/>
            <a:ext cx="91440" cy="914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3"/>
          <p:cNvSpPr/>
          <p:nvPr/>
        </p:nvSpPr>
        <p:spPr>
          <a:xfrm>
            <a:off x="10790886" y="6400800"/>
            <a:ext cx="91440" cy="91440"/>
          </a:xfrm>
          <a:prstGeom prst="ellipse">
            <a:avLst/>
          </a:prstGeom>
          <a:solidFill>
            <a:srgbClr val="2CA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3"/>
          <p:cNvSpPr/>
          <p:nvPr/>
        </p:nvSpPr>
        <p:spPr>
          <a:xfrm>
            <a:off x="9051594" y="6400800"/>
            <a:ext cx="91440" cy="9144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10;p4">
            <a:extLst>
              <a:ext uri="{FF2B5EF4-FFF2-40B4-BE49-F238E27FC236}">
                <a16:creationId xmlns:a16="http://schemas.microsoft.com/office/drawing/2014/main" id="{81404A37-C555-316E-A7A4-9AD9C32F6192}"/>
              </a:ext>
            </a:extLst>
          </p:cNvPr>
          <p:cNvSpPr/>
          <p:nvPr/>
        </p:nvSpPr>
        <p:spPr>
          <a:xfrm>
            <a:off x="3867150" y="152005"/>
            <a:ext cx="4457698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13A"/>
              </a:buClr>
              <a:buSzPts val="3000"/>
              <a:buFont typeface="Cambria"/>
              <a:buNone/>
            </a:pPr>
            <a:r>
              <a:rPr lang="en-US" sz="3000" b="1" i="0" u="none" strike="noStrike" cap="none" dirty="0">
                <a:solidFill>
                  <a:srgbClr val="1721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Structure of Nucleotides</a:t>
            </a:r>
            <a:endParaRPr sz="30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3AFA77-3C85-BF1C-064B-7369D37B48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02" t="8172" r="44170" b="56989"/>
          <a:stretch>
            <a:fillRect/>
          </a:stretch>
        </p:blipFill>
        <p:spPr>
          <a:xfrm>
            <a:off x="835742" y="969784"/>
            <a:ext cx="5188358" cy="33822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04DC59-9F53-755E-B140-DA560DFB6789}"/>
              </a:ext>
            </a:extLst>
          </p:cNvPr>
          <p:cNvSpPr txBox="1"/>
          <p:nvPr/>
        </p:nvSpPr>
        <p:spPr>
          <a:xfrm>
            <a:off x="865239" y="4621161"/>
            <a:ext cx="500461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nucleotide is made up of three components.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Phosphate group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Sugar (Pentose)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Nitrogenous base</a:t>
            </a:r>
            <a:endParaRPr lang="en-US" sz="20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27C1DD-E618-C6D1-88BF-C69187DA905A}"/>
              </a:ext>
            </a:extLst>
          </p:cNvPr>
          <p:cNvSpPr txBox="1"/>
          <p:nvPr/>
        </p:nvSpPr>
        <p:spPr>
          <a:xfrm>
            <a:off x="6218904" y="4621161"/>
            <a:ext cx="51865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Nucleosides are the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Sugar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without a phosphate group.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Nucleosides bound to each other by phosphate bonds in a long chain make up DNA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396DCB3-DA0C-BCD7-4134-22D0B74E74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46" t="45280" r="44633" b="27844"/>
          <a:stretch>
            <a:fillRect/>
          </a:stretch>
        </p:blipFill>
        <p:spPr>
          <a:xfrm>
            <a:off x="6718673" y="1247616"/>
            <a:ext cx="4357366" cy="260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477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CF540-9640-6853-641D-36F365DB5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10;p4">
            <a:extLst>
              <a:ext uri="{FF2B5EF4-FFF2-40B4-BE49-F238E27FC236}">
                <a16:creationId xmlns:a16="http://schemas.microsoft.com/office/drawing/2014/main" id="{64C1C564-CF02-6D1E-1CB5-D6432C7BE8BB}"/>
              </a:ext>
            </a:extLst>
          </p:cNvPr>
          <p:cNvSpPr/>
          <p:nvPr/>
        </p:nvSpPr>
        <p:spPr>
          <a:xfrm>
            <a:off x="2576052" y="152005"/>
            <a:ext cx="5748796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13A"/>
              </a:buClr>
              <a:buSzPts val="3000"/>
              <a:buFont typeface="Cambria"/>
              <a:buNone/>
            </a:pPr>
            <a:r>
              <a:rPr lang="en-US" sz="3000" b="1" i="0" u="none" strike="noStrike" cap="none" dirty="0">
                <a:solidFill>
                  <a:srgbClr val="1721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Structure of Nitrogenous Bases</a:t>
            </a:r>
            <a:endParaRPr sz="30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7BD05C-834F-D5E0-B65F-FAA4AF4F47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743" t="5598" r="3754" b="37116"/>
          <a:stretch>
            <a:fillRect/>
          </a:stretch>
        </p:blipFill>
        <p:spPr>
          <a:xfrm>
            <a:off x="5910723" y="871460"/>
            <a:ext cx="5461310" cy="55616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AF0DB8-7942-B927-D34E-68B0F11E706E}"/>
              </a:ext>
            </a:extLst>
          </p:cNvPr>
          <p:cNvSpPr txBox="1"/>
          <p:nvPr/>
        </p:nvSpPr>
        <p:spPr>
          <a:xfrm>
            <a:off x="235975" y="1641987"/>
            <a:ext cx="5860025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bases consist of </a:t>
            </a:r>
            <a:r>
              <a:rPr lang="en-US" sz="2000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Purines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2000" dirty="0">
                <a:solidFill>
                  <a:srgbClr val="3D71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Pyrimidines</a:t>
            </a:r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Uracil replaces Thymine only in RNA.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Adenine and Thymine pair (A-T) </a:t>
            </a:r>
            <a:b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Cytosine and Guanine pair (C-G).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pair using Hydrogen bonds.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99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" title="Screenshot 2026-08-09 at 11.50.3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0662" y="1741108"/>
            <a:ext cx="5619400" cy="363536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4"/>
          <p:cNvSpPr/>
          <p:nvPr/>
        </p:nvSpPr>
        <p:spPr>
          <a:xfrm>
            <a:off x="3029740" y="201168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13A"/>
              </a:buClr>
              <a:buSzPts val="3000"/>
              <a:buFont typeface="Cambria"/>
              <a:buNone/>
            </a:pPr>
            <a:r>
              <a:rPr lang="en-US" sz="3000" b="1" i="0" u="none" strike="noStrike" cap="none" dirty="0">
                <a:solidFill>
                  <a:srgbClr val="17213A"/>
                </a:solidFill>
                <a:latin typeface="Cambria"/>
                <a:ea typeface="Cambria"/>
                <a:cs typeface="Cambria"/>
                <a:sym typeface="Cambria"/>
              </a:rPr>
              <a:t>DNA &amp; RNA</a:t>
            </a:r>
            <a:r>
              <a:rPr lang="en-US" sz="3000" b="1" dirty="0">
                <a:solidFill>
                  <a:srgbClr val="17213A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-US" sz="3000" b="1" i="0" u="none" strike="noStrike" cap="none" dirty="0">
                <a:solidFill>
                  <a:srgbClr val="17213A"/>
                </a:solidFill>
                <a:latin typeface="Cambria"/>
                <a:ea typeface="Cambria"/>
                <a:cs typeface="Cambria"/>
                <a:sym typeface="Cambria"/>
              </a:rPr>
              <a:t>Structure of the Code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497050" y="967925"/>
            <a:ext cx="2786700" cy="5638800"/>
          </a:xfrm>
          <a:prstGeom prst="roundRect">
            <a:avLst>
              <a:gd name="adj" fmla="val 1495"/>
            </a:avLst>
          </a:prstGeom>
          <a:solidFill>
            <a:schemeClr val="lt2"/>
          </a:solidFill>
          <a:ln w="12700" cap="flat" cmpd="sng">
            <a:solidFill>
              <a:srgbClr val="D9E2EC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8AA0C7">
                <a:alpha val="251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4"/>
          <p:cNvSpPr/>
          <p:nvPr/>
        </p:nvSpPr>
        <p:spPr>
          <a:xfrm>
            <a:off x="8976975" y="819250"/>
            <a:ext cx="2786700" cy="5787600"/>
          </a:xfrm>
          <a:prstGeom prst="roundRect">
            <a:avLst>
              <a:gd name="adj" fmla="val 1495"/>
            </a:avLst>
          </a:prstGeom>
          <a:solidFill>
            <a:schemeClr val="lt2"/>
          </a:solidFill>
          <a:ln w="12700" cap="flat" cmpd="sng">
            <a:solidFill>
              <a:srgbClr val="D9E2EC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8AA0C7">
                <a:alpha val="251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4"/>
          <p:cNvSpPr/>
          <p:nvPr/>
        </p:nvSpPr>
        <p:spPr>
          <a:xfrm>
            <a:off x="1446479" y="967925"/>
            <a:ext cx="793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0A2342"/>
                </a:solidFill>
                <a:latin typeface="Cambria"/>
                <a:ea typeface="Cambria"/>
                <a:cs typeface="Cambria"/>
                <a:sym typeface="Cambria"/>
              </a:rPr>
              <a:t>DNA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9876900" y="819250"/>
            <a:ext cx="867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7A78"/>
              </a:buClr>
              <a:buSzPts val="2000"/>
              <a:buFont typeface="Cambria"/>
              <a:buNone/>
            </a:pPr>
            <a:r>
              <a:rPr lang="en-US" sz="2000" b="1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RNA</a:t>
            </a:r>
            <a:endParaRPr sz="20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591707" y="2172929"/>
            <a:ext cx="2692041" cy="3717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00050" lvl="0" indent="-22860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+mj-lt"/>
              <a:buAutoNum type="arabicPeriod"/>
            </a:pPr>
            <a:r>
              <a:rPr lang="en-US" sz="1200" b="1" dirty="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DNA replicates and stores genetic information. </a:t>
            </a:r>
          </a:p>
          <a:p>
            <a:pPr marL="400050" lvl="0" indent="-22860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+mj-lt"/>
              <a:buAutoNum type="arabicPeriod"/>
            </a:pPr>
            <a:endParaRPr lang="en-US" sz="1200" b="1" dirty="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22860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+mj-lt"/>
              <a:buAutoNum type="arabicPeriod"/>
            </a:pPr>
            <a:r>
              <a:rPr lang="en-US" sz="1200" b="1" dirty="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Double stranded, helix structure</a:t>
            </a:r>
          </a:p>
          <a:p>
            <a:pPr marL="400050" lvl="0" indent="-22860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+mj-lt"/>
              <a:buAutoNum type="arabicPeriod"/>
            </a:pPr>
            <a:endParaRPr lang="en-US" sz="1200" b="1" dirty="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22860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+mj-lt"/>
              <a:buAutoNum type="arabicPeriod"/>
            </a:pPr>
            <a:r>
              <a:rPr lang="en-US" sz="1200" b="1" dirty="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Millions of bases long</a:t>
            </a:r>
          </a:p>
          <a:p>
            <a:pPr marL="400050" lvl="0" indent="-22860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+mj-lt"/>
              <a:buAutoNum type="arabicPeriod"/>
            </a:pPr>
            <a:endParaRPr lang="en-US" sz="1200" b="1" dirty="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22860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+mj-lt"/>
              <a:buAutoNum type="arabicPeriod"/>
            </a:pPr>
            <a:r>
              <a:rPr lang="en-US" sz="1200" b="1" dirty="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Made of deoxyribose sugar</a:t>
            </a:r>
          </a:p>
          <a:p>
            <a:pPr marL="400050" lvl="0" indent="-22860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+mj-lt"/>
              <a:buAutoNum type="arabicPeriod"/>
            </a:pPr>
            <a:endParaRPr lang="en-US" sz="1200" b="1" dirty="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22860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+mj-lt"/>
              <a:buAutoNum type="arabicPeriod"/>
            </a:pPr>
            <a:r>
              <a:rPr lang="en-US" sz="1200" b="1" dirty="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The bases in DNA are Adenine (A), Thymine (T), Guanine (G) and Cytosine (C).</a:t>
            </a:r>
          </a:p>
          <a:p>
            <a:pPr marL="400050" lvl="0" indent="-22860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+mj-lt"/>
              <a:buAutoNum type="arabicPeriod"/>
            </a:pPr>
            <a:endParaRPr lang="en-US" sz="1200" b="1" dirty="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22860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+mj-lt"/>
              <a:buAutoNum type="arabicPeriod"/>
            </a:pPr>
            <a:r>
              <a:rPr lang="en-US" sz="1200" b="1" dirty="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Adenine and Thymine pair (A-T) Cytosine and Guanine pair (C-G)</a:t>
            </a:r>
          </a:p>
          <a:p>
            <a:pPr marL="400050" lvl="0" indent="-228600">
              <a:buClr>
                <a:srgbClr val="0A2342"/>
              </a:buClr>
              <a:buSzPts val="900"/>
              <a:buFont typeface="+mj-lt"/>
              <a:buAutoNum type="arabicPeriod"/>
            </a:pPr>
            <a:endParaRPr lang="en-US" sz="1200" b="1" dirty="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228600">
              <a:buClr>
                <a:srgbClr val="0A2342"/>
              </a:buClr>
              <a:buSzPts val="900"/>
              <a:buFont typeface="+mj-lt"/>
              <a:buAutoNum type="arabicPeriod"/>
            </a:pPr>
            <a:r>
              <a:rPr lang="en-US" sz="1200" b="1" dirty="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Very stable owing to deoxyribose sugar</a:t>
            </a:r>
          </a:p>
          <a:p>
            <a:pPr marL="400050" lvl="0" indent="-228600">
              <a:buClr>
                <a:srgbClr val="0A2342"/>
              </a:buClr>
              <a:buSzPts val="900"/>
              <a:buFont typeface="+mj-lt"/>
              <a:buAutoNum type="arabicPeriod"/>
            </a:pPr>
            <a:endParaRPr lang="en-US" sz="1200" b="1" dirty="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228600">
              <a:buClr>
                <a:srgbClr val="0A2342"/>
              </a:buClr>
              <a:buSzPts val="900"/>
              <a:buFont typeface="+mj-lt"/>
              <a:buAutoNum type="arabicPeriod"/>
            </a:pPr>
            <a:r>
              <a:rPr lang="en-US" sz="1200" b="1" dirty="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Perfect for long storage of genetic information, thus, found in nucleus.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200" b="1" dirty="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200" b="1" dirty="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8976974" y="2025445"/>
            <a:ext cx="2823613" cy="401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Calibri"/>
              <a:buAutoNum type="arabicPeriod"/>
            </a:pPr>
            <a:r>
              <a:rPr lang="en-US" sz="1200" b="1" dirty="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RNA converts the genetic information contained within DNA to a format used to build proteins.</a:t>
            </a:r>
          </a:p>
          <a:p>
            <a:pPr marL="45720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Calibri"/>
              <a:buAutoNum type="arabicPeriod"/>
            </a:pPr>
            <a:endParaRPr lang="en-US" sz="1200" b="1" dirty="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Calibri"/>
              <a:buAutoNum type="arabicPeriod"/>
            </a:pPr>
            <a:r>
              <a:rPr lang="en-US" sz="1200" b="1" dirty="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Single stranded, may form secondary structure</a:t>
            </a:r>
          </a:p>
          <a:p>
            <a:pPr marL="45720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Calibri"/>
              <a:buAutoNum type="arabicPeriod"/>
            </a:pPr>
            <a:endParaRPr sz="1200" b="1" dirty="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Calibri"/>
              <a:buAutoNum type="arabicPeriod"/>
            </a:pPr>
            <a:r>
              <a:rPr lang="en-US" sz="1200" b="1" dirty="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A few thousand bases long</a:t>
            </a:r>
          </a:p>
          <a:p>
            <a:pPr marL="45720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Calibri"/>
              <a:buAutoNum type="arabicPeriod"/>
            </a:pPr>
            <a:endParaRPr lang="en-US" sz="1200" b="1" dirty="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Calibri"/>
              <a:buAutoNum type="arabicPeriod"/>
            </a:pPr>
            <a:r>
              <a:rPr lang="en-US" sz="1200" b="1" dirty="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Made of ribose sugar</a:t>
            </a:r>
          </a:p>
          <a:p>
            <a:pPr marL="45720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Calibri"/>
              <a:buAutoNum type="arabicPeriod"/>
            </a:pPr>
            <a:endParaRPr lang="en-US" sz="1200" b="1" dirty="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Calibri"/>
              <a:buAutoNum type="arabicPeriod"/>
            </a:pPr>
            <a:r>
              <a:rPr lang="en-US" sz="1200" b="1" dirty="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RNA shared A, g and C with DNA, but contains Uracil (U) rather than Thymine.</a:t>
            </a:r>
          </a:p>
          <a:p>
            <a:pPr marL="45720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Calibri"/>
              <a:buAutoNum type="arabicPeriod"/>
            </a:pPr>
            <a:endParaRPr lang="en-US" sz="1200" b="1" dirty="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Calibri"/>
              <a:buAutoNum type="arabicPeriod"/>
            </a:pPr>
            <a:r>
              <a:rPr lang="en-US" sz="1200" b="1" dirty="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Adenine and Uracil pair (A-U) Cytosine and Guanine pair (C-G)</a:t>
            </a:r>
          </a:p>
          <a:p>
            <a:pPr marL="45720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Calibri"/>
              <a:buAutoNum type="arabicPeriod"/>
            </a:pPr>
            <a:endParaRPr lang="en-US" sz="1200" b="1" dirty="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Calibri"/>
              <a:buAutoNum type="arabicPeriod"/>
            </a:pPr>
            <a:r>
              <a:rPr lang="en-US" sz="1200" b="1" dirty="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Less reactive because of absence of hydroxyl modification.</a:t>
            </a:r>
          </a:p>
          <a:p>
            <a:pPr marL="45720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Calibri"/>
              <a:buAutoNum type="arabicPeriod"/>
            </a:pPr>
            <a:endParaRPr lang="en-US" sz="1200" b="1" dirty="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285750">
              <a:buClr>
                <a:srgbClr val="0A2342"/>
              </a:buClr>
              <a:buSzPts val="900"/>
              <a:buFont typeface="Calibri"/>
              <a:buAutoNum type="arabicPeriod"/>
            </a:pPr>
            <a:r>
              <a:rPr lang="en-US" sz="1200" b="1" dirty="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Formed in the nucleus, migrates to area of function.</a:t>
            </a:r>
          </a:p>
          <a:p>
            <a:pPr marL="45720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900"/>
              <a:buFont typeface="Calibri"/>
              <a:buAutoNum type="arabicPeriod"/>
            </a:pPr>
            <a:endParaRPr sz="1200" b="1" dirty="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"/>
          <p:cNvSpPr/>
          <p:nvPr/>
        </p:nvSpPr>
        <p:spPr>
          <a:xfrm>
            <a:off x="457190" y="202093"/>
            <a:ext cx="10972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13A"/>
              </a:buClr>
              <a:buSzPts val="2800"/>
              <a:buFont typeface="Cambria"/>
              <a:buNone/>
            </a:pPr>
            <a:r>
              <a:rPr lang="en-US" sz="3200" b="1" i="0" u="none" strike="noStrike" cap="none">
                <a:solidFill>
                  <a:srgbClr val="17213A"/>
                </a:solidFill>
                <a:latin typeface="Cambria"/>
                <a:ea typeface="Cambria"/>
                <a:cs typeface="Cambria"/>
                <a:sym typeface="Cambria"/>
              </a:rPr>
              <a:t>Replication &amp; Transcription</a:t>
            </a:r>
            <a:r>
              <a:rPr lang="en-US" sz="3200" b="1">
                <a:solidFill>
                  <a:srgbClr val="17213A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-US" sz="3200" b="1" i="0" u="none" strike="noStrike" cap="none">
                <a:solidFill>
                  <a:srgbClr val="17213A"/>
                </a:solidFill>
                <a:latin typeface="Cambria"/>
                <a:ea typeface="Cambria"/>
                <a:cs typeface="Cambria"/>
                <a:sym typeface="Cambria"/>
              </a:rPr>
              <a:t>Two Ways to Copy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548650" y="849000"/>
            <a:ext cx="5486400" cy="5460600"/>
          </a:xfrm>
          <a:prstGeom prst="roundRect">
            <a:avLst>
              <a:gd name="adj" fmla="val 1495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224" name="Google Shape;224;p5"/>
          <p:cNvSpPr/>
          <p:nvPr/>
        </p:nvSpPr>
        <p:spPr>
          <a:xfrm>
            <a:off x="838930" y="925407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DNA  →  DNA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914400" y="4581144"/>
            <a:ext cx="64008" cy="6400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  <p:sp>
        <p:nvSpPr>
          <p:cNvPr id="226" name="Google Shape;226;p5"/>
          <p:cNvSpPr/>
          <p:nvPr/>
        </p:nvSpPr>
        <p:spPr>
          <a:xfrm>
            <a:off x="1097280" y="4462272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1052"/>
              </a:lnSpc>
              <a:spcBef>
                <a:spcPts val="0"/>
              </a:spcBef>
              <a:spcAft>
                <a:spcPts val="0"/>
              </a:spcAft>
              <a:buClr>
                <a:srgbClr val="DCE5F5"/>
              </a:buClr>
              <a:buSzPts val="950"/>
              <a:buFont typeface="Calibri"/>
              <a:buNone/>
            </a:pPr>
            <a:r>
              <a:rPr lang="en-US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Semiconservative: each new duplex keeps one parental strand.</a:t>
            </a:r>
            <a:endParaRPr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914400" y="5001768"/>
            <a:ext cx="64008" cy="6400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  <p:sp>
        <p:nvSpPr>
          <p:cNvPr id="228" name="Google Shape;228;p5"/>
          <p:cNvSpPr/>
          <p:nvPr/>
        </p:nvSpPr>
        <p:spPr>
          <a:xfrm>
            <a:off x="1097280" y="4882896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1052"/>
              </a:lnSpc>
              <a:spcBef>
                <a:spcPts val="0"/>
              </a:spcBef>
              <a:spcAft>
                <a:spcPts val="0"/>
              </a:spcAft>
              <a:buClr>
                <a:srgbClr val="DCE5F5"/>
              </a:buClr>
              <a:buSzPts val="950"/>
              <a:buFont typeface="Calibri"/>
              <a:buNone/>
            </a:pPr>
            <a:r>
              <a:rPr lang="en-US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DNA polymerase reads 3'→5' and builds the new strand 5'→3'.</a:t>
            </a:r>
            <a:endParaRPr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914400" y="5422392"/>
            <a:ext cx="64008" cy="6400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  <p:sp>
        <p:nvSpPr>
          <p:cNvPr id="230" name="Google Shape;230;p5"/>
          <p:cNvSpPr/>
          <p:nvPr/>
        </p:nvSpPr>
        <p:spPr>
          <a:xfrm>
            <a:off x="1097280" y="5303520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1052"/>
              </a:lnSpc>
              <a:spcBef>
                <a:spcPts val="0"/>
              </a:spcBef>
              <a:spcAft>
                <a:spcPts val="0"/>
              </a:spcAft>
              <a:buClr>
                <a:srgbClr val="DCE5F5"/>
              </a:buClr>
              <a:buSzPts val="950"/>
              <a:buFont typeface="Calibri"/>
              <a:buNone/>
            </a:pPr>
            <a:r>
              <a:rPr lang="en-US" b="0" i="0" u="none" strike="noStrike" cap="none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Base pairing rule: A with T, G with C (hydrogen bonds).</a:t>
            </a:r>
            <a:endParaRPr b="0" i="0" u="none" strike="noStrike" cap="none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914400" y="5843016"/>
            <a:ext cx="64008" cy="6400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  <p:sp>
        <p:nvSpPr>
          <p:cNvPr id="232" name="Google Shape;232;p5"/>
          <p:cNvSpPr/>
          <p:nvPr/>
        </p:nvSpPr>
        <p:spPr>
          <a:xfrm>
            <a:off x="1097280" y="5724144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1052"/>
              </a:lnSpc>
              <a:spcBef>
                <a:spcPts val="0"/>
              </a:spcBef>
              <a:spcAft>
                <a:spcPts val="0"/>
              </a:spcAft>
              <a:buClr>
                <a:srgbClr val="DCE5F5"/>
              </a:buClr>
              <a:buSzPts val="950"/>
              <a:buFont typeface="Calibri"/>
              <a:buNone/>
            </a:pPr>
            <a:r>
              <a:rPr lang="en-US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Leading strand is continuous; lagging strand forms Okazaki fragments, sealed by ligase.</a:t>
            </a:r>
            <a:endParaRPr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6583680" y="1149607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700"/>
              <a:buFont typeface="Cambria"/>
              <a:buNone/>
            </a:pPr>
            <a:r>
              <a:rPr lang="en-US" sz="2400" b="1" i="0" u="none" strike="noStrike" cap="none">
                <a:solidFill>
                  <a:srgbClr val="0A2342"/>
                </a:solidFill>
                <a:latin typeface="Cambria"/>
                <a:ea typeface="Cambria"/>
                <a:cs typeface="Cambria"/>
                <a:sym typeface="Cambria"/>
              </a:rPr>
              <a:t>DNA  →  RNA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7930730" y="119536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7A78"/>
              </a:buClr>
              <a:buSzPts val="1100"/>
              <a:buFont typeface="Calibri"/>
              <a:buNone/>
            </a:pPr>
            <a:r>
              <a:rPr lang="en-US" sz="1600" b="0" i="1" u="none" strike="noStrike" cap="none">
                <a:solidFill>
                  <a:srgbClr val="1B7A78"/>
                </a:solidFill>
                <a:latin typeface="Calibri"/>
                <a:ea typeface="Calibri"/>
                <a:cs typeface="Calibri"/>
                <a:sym typeface="Calibri"/>
              </a:rPr>
              <a:t>Transcription 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5"/>
          <p:cNvCxnSpPr/>
          <p:nvPr/>
        </p:nvCxnSpPr>
        <p:spPr>
          <a:xfrm>
            <a:off x="7589520" y="3520440"/>
            <a:ext cx="97261" cy="49237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6" name="Google Shape;236;p5"/>
          <p:cNvCxnSpPr/>
          <p:nvPr/>
        </p:nvCxnSpPr>
        <p:spPr>
          <a:xfrm>
            <a:off x="7686781" y="3569677"/>
            <a:ext cx="77114" cy="49237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7" name="Google Shape;237;p5"/>
          <p:cNvCxnSpPr/>
          <p:nvPr/>
        </p:nvCxnSpPr>
        <p:spPr>
          <a:xfrm>
            <a:off x="7763895" y="3618914"/>
            <a:ext cx="40993" cy="49237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8" name="Google Shape;238;p5"/>
          <p:cNvCxnSpPr/>
          <p:nvPr/>
        </p:nvCxnSpPr>
        <p:spPr>
          <a:xfrm flipH="1">
            <a:off x="7801268" y="3668151"/>
            <a:ext cx="3620" cy="49237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9" name="Google Shape;239;p5"/>
          <p:cNvCxnSpPr/>
          <p:nvPr/>
        </p:nvCxnSpPr>
        <p:spPr>
          <a:xfrm flipH="1">
            <a:off x="7753785" y="3717388"/>
            <a:ext cx="47483" cy="49237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0" name="Google Shape;240;p5"/>
          <p:cNvCxnSpPr/>
          <p:nvPr/>
        </p:nvCxnSpPr>
        <p:spPr>
          <a:xfrm flipH="1">
            <a:off x="7672276" y="3766625"/>
            <a:ext cx="81509" cy="49237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1" name="Google Shape;241;p5"/>
          <p:cNvCxnSpPr/>
          <p:nvPr/>
        </p:nvCxnSpPr>
        <p:spPr>
          <a:xfrm flipH="1">
            <a:off x="7573624" y="3815862"/>
            <a:ext cx="98652" cy="49237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2" name="Google Shape;242;p5"/>
          <p:cNvCxnSpPr/>
          <p:nvPr/>
        </p:nvCxnSpPr>
        <p:spPr>
          <a:xfrm flipH="1">
            <a:off x="7478265" y="3865098"/>
            <a:ext cx="95359" cy="49237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3" name="Google Shape;243;p5"/>
          <p:cNvCxnSpPr/>
          <p:nvPr/>
        </p:nvCxnSpPr>
        <p:spPr>
          <a:xfrm flipH="1">
            <a:off x="7405952" y="3914335"/>
            <a:ext cx="72313" cy="49237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4" name="Google Shape;244;p5"/>
          <p:cNvCxnSpPr/>
          <p:nvPr/>
        </p:nvCxnSpPr>
        <p:spPr>
          <a:xfrm flipH="1">
            <a:off x="7371664" y="3963572"/>
            <a:ext cx="34288" cy="49237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5" name="Google Shape;245;p5"/>
          <p:cNvCxnSpPr/>
          <p:nvPr/>
        </p:nvCxnSpPr>
        <p:spPr>
          <a:xfrm>
            <a:off x="7371664" y="4012809"/>
            <a:ext cx="10840" cy="49237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6" name="Google Shape;246;p5"/>
          <p:cNvCxnSpPr/>
          <p:nvPr/>
        </p:nvCxnSpPr>
        <p:spPr>
          <a:xfrm>
            <a:off x="7382505" y="4062046"/>
            <a:ext cx="53723" cy="49237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7" name="Google Shape;247;p5"/>
          <p:cNvCxnSpPr/>
          <p:nvPr/>
        </p:nvCxnSpPr>
        <p:spPr>
          <a:xfrm>
            <a:off x="7436227" y="4111283"/>
            <a:ext cx="85477" cy="49237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8" name="Google Shape;248;p5"/>
          <p:cNvCxnSpPr/>
          <p:nvPr/>
        </p:nvCxnSpPr>
        <p:spPr>
          <a:xfrm>
            <a:off x="7521704" y="4160520"/>
            <a:ext cx="99600" cy="49200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9" name="Google Shape;249;p5"/>
          <p:cNvCxnSpPr/>
          <p:nvPr/>
        </p:nvCxnSpPr>
        <p:spPr>
          <a:xfrm>
            <a:off x="7621229" y="4209757"/>
            <a:ext cx="93000" cy="49200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0" name="Google Shape;250;p5"/>
          <p:cNvCxnSpPr/>
          <p:nvPr/>
        </p:nvCxnSpPr>
        <p:spPr>
          <a:xfrm>
            <a:off x="7714185" y="4258994"/>
            <a:ext cx="67200" cy="49200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1" name="Google Shape;251;p5"/>
          <p:cNvCxnSpPr/>
          <p:nvPr/>
        </p:nvCxnSpPr>
        <p:spPr>
          <a:xfrm>
            <a:off x="7781318" y="4308231"/>
            <a:ext cx="27402" cy="49237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2" name="Google Shape;252;p5"/>
          <p:cNvCxnSpPr/>
          <p:nvPr/>
        </p:nvCxnSpPr>
        <p:spPr>
          <a:xfrm flipH="1">
            <a:off x="7790716" y="4357468"/>
            <a:ext cx="18004" cy="49237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3" name="Google Shape;253;p5"/>
          <p:cNvCxnSpPr/>
          <p:nvPr/>
        </p:nvCxnSpPr>
        <p:spPr>
          <a:xfrm flipH="1">
            <a:off x="7731034" y="4406705"/>
            <a:ext cx="59681" cy="49237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4" name="Google Shape;254;p5"/>
          <p:cNvCxnSpPr/>
          <p:nvPr/>
        </p:nvCxnSpPr>
        <p:spPr>
          <a:xfrm flipH="1">
            <a:off x="7642039" y="4455942"/>
            <a:ext cx="88995" cy="49237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5" name="Google Shape;255;p5"/>
          <p:cNvCxnSpPr/>
          <p:nvPr/>
        </p:nvCxnSpPr>
        <p:spPr>
          <a:xfrm flipH="1">
            <a:off x="7542165" y="4505178"/>
            <a:ext cx="99874" cy="49237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6" name="Google Shape;256;p5"/>
          <p:cNvCxnSpPr/>
          <p:nvPr/>
        </p:nvCxnSpPr>
        <p:spPr>
          <a:xfrm flipH="1">
            <a:off x="7452100" y="4554415"/>
            <a:ext cx="90065" cy="49237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7" name="Google Shape;257;p5"/>
          <p:cNvCxnSpPr/>
          <p:nvPr/>
        </p:nvCxnSpPr>
        <p:spPr>
          <a:xfrm flipH="1">
            <a:off x="7390501" y="4603652"/>
            <a:ext cx="61599" cy="49237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8" name="Google Shape;258;p5"/>
          <p:cNvCxnSpPr/>
          <p:nvPr/>
        </p:nvCxnSpPr>
        <p:spPr>
          <a:xfrm flipH="1">
            <a:off x="7370128" y="4652889"/>
            <a:ext cx="20373" cy="49237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9" name="Google Shape;259;p5"/>
          <p:cNvCxnSpPr/>
          <p:nvPr/>
        </p:nvCxnSpPr>
        <p:spPr>
          <a:xfrm>
            <a:off x="7370128" y="4702126"/>
            <a:ext cx="25073" cy="49237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0" name="Google Shape;260;p5"/>
          <p:cNvCxnSpPr/>
          <p:nvPr/>
        </p:nvCxnSpPr>
        <p:spPr>
          <a:xfrm>
            <a:off x="7395201" y="4751363"/>
            <a:ext cx="65326" cy="49237"/>
          </a:xfrm>
          <a:prstGeom prst="straightConnector1">
            <a:avLst/>
          </a:prstGeom>
          <a:noFill/>
          <a:ln w="41275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1" name="Google Shape;261;p5"/>
          <p:cNvSpPr/>
          <p:nvPr/>
        </p:nvSpPr>
        <p:spPr>
          <a:xfrm>
            <a:off x="7548372" y="3479292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262" name="Google Shape;262;p5"/>
          <p:cNvSpPr/>
          <p:nvPr/>
        </p:nvSpPr>
        <p:spPr>
          <a:xfrm>
            <a:off x="7722747" y="3577766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263" name="Google Shape;263;p5"/>
          <p:cNvSpPr/>
          <p:nvPr/>
        </p:nvSpPr>
        <p:spPr>
          <a:xfrm>
            <a:off x="7760120" y="3676240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264" name="Google Shape;264;p5"/>
          <p:cNvSpPr/>
          <p:nvPr/>
        </p:nvSpPr>
        <p:spPr>
          <a:xfrm>
            <a:off x="7631128" y="3774714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265" name="Google Shape;265;p5"/>
          <p:cNvSpPr/>
          <p:nvPr/>
        </p:nvSpPr>
        <p:spPr>
          <a:xfrm>
            <a:off x="7437117" y="3873187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266" name="Google Shape;266;p5"/>
          <p:cNvSpPr/>
          <p:nvPr/>
        </p:nvSpPr>
        <p:spPr>
          <a:xfrm>
            <a:off x="7330516" y="3971661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267" name="Google Shape;267;p5"/>
          <p:cNvSpPr/>
          <p:nvPr/>
        </p:nvSpPr>
        <p:spPr>
          <a:xfrm>
            <a:off x="7395079" y="4070135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268" name="Google Shape;268;p5"/>
          <p:cNvSpPr/>
          <p:nvPr/>
        </p:nvSpPr>
        <p:spPr>
          <a:xfrm>
            <a:off x="7580081" y="4168609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269" name="Google Shape;269;p5"/>
          <p:cNvSpPr/>
          <p:nvPr/>
        </p:nvSpPr>
        <p:spPr>
          <a:xfrm>
            <a:off x="7740170" y="4267083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270" name="Google Shape;270;p5"/>
          <p:cNvSpPr/>
          <p:nvPr/>
        </p:nvSpPr>
        <p:spPr>
          <a:xfrm>
            <a:off x="7749568" y="4365557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271" name="Google Shape;271;p5"/>
          <p:cNvSpPr/>
          <p:nvPr/>
        </p:nvSpPr>
        <p:spPr>
          <a:xfrm>
            <a:off x="7600891" y="4464030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272" name="Google Shape;272;p5"/>
          <p:cNvSpPr/>
          <p:nvPr/>
        </p:nvSpPr>
        <p:spPr>
          <a:xfrm>
            <a:off x="7410952" y="4562504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273" name="Google Shape;273;p5"/>
          <p:cNvSpPr/>
          <p:nvPr/>
        </p:nvSpPr>
        <p:spPr>
          <a:xfrm>
            <a:off x="7328980" y="4660978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274" name="Google Shape;274;p5"/>
          <p:cNvSpPr/>
          <p:nvPr/>
        </p:nvSpPr>
        <p:spPr>
          <a:xfrm>
            <a:off x="7419379" y="4759452"/>
            <a:ext cx="82296" cy="822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275" name="Google Shape;275;p5"/>
          <p:cNvSpPr/>
          <p:nvPr/>
        </p:nvSpPr>
        <p:spPr>
          <a:xfrm>
            <a:off x="8092440" y="39776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050"/>
              <a:buFont typeface="Calibri"/>
              <a:buNone/>
            </a:pPr>
            <a:r>
              <a:rPr lang="en-US" sz="2000" b="1" i="0" u="none" strike="noStrike" cap="non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mRNA transcript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050"/>
              <a:buFont typeface="Calibri"/>
              <a:buNone/>
            </a:pPr>
            <a:r>
              <a:rPr lang="en-US" sz="2000" b="1" i="0" u="none" strike="noStrike" cap="non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(5'…AUG…3')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7777526" y="3621300"/>
            <a:ext cx="47550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1052"/>
              </a:lnSpc>
              <a:spcBef>
                <a:spcPts val="0"/>
              </a:spcBef>
              <a:spcAft>
                <a:spcPts val="0"/>
              </a:spcAft>
              <a:buClr>
                <a:srgbClr val="17213A"/>
              </a:buClr>
              <a:buSzPts val="950"/>
              <a:buFont typeface="Calibri"/>
              <a:buNone/>
            </a:pPr>
            <a:r>
              <a:rPr lang="en-US" b="0" i="0" u="none" strike="noStrike" cap="none" dirty="0">
                <a:solidFill>
                  <a:srgbClr val="17213A"/>
                </a:solidFill>
                <a:latin typeface="Calibri"/>
                <a:ea typeface="Calibri"/>
                <a:cs typeface="Calibri"/>
                <a:sym typeface="Calibri"/>
              </a:rPr>
              <a:t>mRNA carries the code to the ribosome for translation.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7BD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9AA7B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5" title="Screenshot 2026-08-09 at 11.36.0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7325" y="1291100"/>
            <a:ext cx="4498027" cy="3154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5" title="Screenshot 2026-08-09 at 11.38.59 AM.png"/>
          <p:cNvPicPr preferRelativeResize="0"/>
          <p:nvPr/>
        </p:nvPicPr>
        <p:blipFill rotWithShape="1">
          <a:blip r:embed="rId4">
            <a:alphaModFix/>
          </a:blip>
          <a:srcRect b="45794"/>
          <a:stretch/>
        </p:blipFill>
        <p:spPr>
          <a:xfrm>
            <a:off x="6495950" y="1577700"/>
            <a:ext cx="4934052" cy="183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5" title="Screenshot 2026-08-09 at 11.38.59 AM.png"/>
          <p:cNvPicPr preferRelativeResize="0"/>
          <p:nvPr/>
        </p:nvPicPr>
        <p:blipFill rotWithShape="1">
          <a:blip r:embed="rId4">
            <a:alphaModFix/>
          </a:blip>
          <a:srcRect t="54804"/>
          <a:stretch/>
        </p:blipFill>
        <p:spPr>
          <a:xfrm>
            <a:off x="6652300" y="4899075"/>
            <a:ext cx="3806476" cy="155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"/>
          <p:cNvSpPr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13A"/>
              </a:buClr>
              <a:buSzPts val="2700"/>
              <a:buFont typeface="Cambria"/>
              <a:buNone/>
            </a:pPr>
            <a:r>
              <a:rPr lang="en-US" sz="2700" b="1" i="0" u="none" strike="noStrike" cap="none">
                <a:solidFill>
                  <a:srgbClr val="17213A"/>
                </a:solidFill>
                <a:latin typeface="Cambria"/>
                <a:ea typeface="Cambria"/>
                <a:cs typeface="Cambria"/>
                <a:sym typeface="Cambria"/>
              </a:rPr>
              <a:t>Codons, the Central Dogma &amp; the Wobble Position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548640" y="137160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0A2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288" name="Google Shape;288;p6"/>
          <p:cNvSpPr/>
          <p:nvPr/>
        </p:nvSpPr>
        <p:spPr>
          <a:xfrm>
            <a:off x="548640" y="1499616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DNA (template)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548640" y="185623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3'–T A C–5'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0" name="Google Shape;290;p6"/>
          <p:cNvCxnSpPr/>
          <p:nvPr/>
        </p:nvCxnSpPr>
        <p:spPr>
          <a:xfrm>
            <a:off x="2935224" y="1851660"/>
            <a:ext cx="393192" cy="914"/>
          </a:xfrm>
          <a:prstGeom prst="straightConnector1">
            <a:avLst/>
          </a:prstGeom>
          <a:noFill/>
          <a:ln w="22225" cap="flat" cmpd="sng">
            <a:solidFill>
              <a:srgbClr val="5B6B8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1" name="Google Shape;291;p6"/>
          <p:cNvSpPr/>
          <p:nvPr/>
        </p:nvSpPr>
        <p:spPr>
          <a:xfrm rot="5400000">
            <a:off x="3218688" y="1769364"/>
            <a:ext cx="164592" cy="164592"/>
          </a:xfrm>
          <a:prstGeom prst="triangle">
            <a:avLst>
              <a:gd name="adj" fmla="val 50000"/>
            </a:avLst>
          </a:prstGeom>
          <a:solidFill>
            <a:srgbClr val="5B6B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292" name="Google Shape;292;p6"/>
          <p:cNvSpPr/>
          <p:nvPr/>
        </p:nvSpPr>
        <p:spPr>
          <a:xfrm>
            <a:off x="2537460" y="1097280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Transcription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3383280" y="137160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1B7A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294" name="Google Shape;294;p6"/>
          <p:cNvSpPr/>
          <p:nvPr/>
        </p:nvSpPr>
        <p:spPr>
          <a:xfrm>
            <a:off x="3383280" y="1499616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mRNA (codon)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3383280" y="185623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5'–A U G–3'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6"/>
          <p:cNvCxnSpPr/>
          <p:nvPr/>
        </p:nvCxnSpPr>
        <p:spPr>
          <a:xfrm>
            <a:off x="5769864" y="1851660"/>
            <a:ext cx="393192" cy="914"/>
          </a:xfrm>
          <a:prstGeom prst="straightConnector1">
            <a:avLst/>
          </a:prstGeom>
          <a:noFill/>
          <a:ln w="22225" cap="flat" cmpd="sng">
            <a:solidFill>
              <a:srgbClr val="5B6B8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7" name="Google Shape;297;p6"/>
          <p:cNvSpPr/>
          <p:nvPr/>
        </p:nvSpPr>
        <p:spPr>
          <a:xfrm rot="5400000">
            <a:off x="6053328" y="1769364"/>
            <a:ext cx="164592" cy="164592"/>
          </a:xfrm>
          <a:prstGeom prst="triangle">
            <a:avLst>
              <a:gd name="adj" fmla="val 50000"/>
            </a:avLst>
          </a:prstGeom>
          <a:solidFill>
            <a:srgbClr val="5B6B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298" name="Google Shape;298;p6"/>
          <p:cNvSpPr/>
          <p:nvPr/>
        </p:nvSpPr>
        <p:spPr>
          <a:xfrm>
            <a:off x="5372100" y="1097280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Translation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6217920" y="137160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300" name="Google Shape;300;p6"/>
          <p:cNvSpPr/>
          <p:nvPr/>
        </p:nvSpPr>
        <p:spPr>
          <a:xfrm>
            <a:off x="6217920" y="1499616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tRNA (anticodon)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6217920" y="185623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3'–U A C–5'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6"/>
          <p:cNvCxnSpPr/>
          <p:nvPr/>
        </p:nvCxnSpPr>
        <p:spPr>
          <a:xfrm>
            <a:off x="8604504" y="1851660"/>
            <a:ext cx="393192" cy="914"/>
          </a:xfrm>
          <a:prstGeom prst="straightConnector1">
            <a:avLst/>
          </a:prstGeom>
          <a:noFill/>
          <a:ln w="22225" cap="flat" cmpd="sng">
            <a:solidFill>
              <a:srgbClr val="5B6B8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3" name="Google Shape;303;p6"/>
          <p:cNvSpPr/>
          <p:nvPr/>
        </p:nvSpPr>
        <p:spPr>
          <a:xfrm rot="5400000">
            <a:off x="8887968" y="1769364"/>
            <a:ext cx="164592" cy="164592"/>
          </a:xfrm>
          <a:prstGeom prst="triangle">
            <a:avLst>
              <a:gd name="adj" fmla="val 50000"/>
            </a:avLst>
          </a:prstGeom>
          <a:solidFill>
            <a:srgbClr val="5B6B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304" name="Google Shape;304;p6"/>
          <p:cNvSpPr/>
          <p:nvPr/>
        </p:nvSpPr>
        <p:spPr>
          <a:xfrm>
            <a:off x="8206740" y="1097280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Peptide bond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9052560" y="137160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306" name="Google Shape;306;p6"/>
          <p:cNvSpPr/>
          <p:nvPr/>
        </p:nvSpPr>
        <p:spPr>
          <a:xfrm>
            <a:off x="9052560" y="1499616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Protein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9052560" y="185623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Met (Start)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548640" y="2697480"/>
            <a:ext cx="55778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 cap="flat" cmpd="sng">
            <a:solidFill>
              <a:srgbClr val="D9E2EC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8AA0C7">
                <a:alpha val="2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309" name="Google Shape;309;p6"/>
          <p:cNvSpPr/>
          <p:nvPr/>
        </p:nvSpPr>
        <p:spPr>
          <a:xfrm>
            <a:off x="822960" y="2871216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500"/>
              <a:buFont typeface="Cambria"/>
              <a:buNone/>
            </a:pPr>
            <a:r>
              <a:rPr lang="en-US" sz="2000" b="1" i="0" u="none" strike="noStrike" cap="none">
                <a:solidFill>
                  <a:srgbClr val="0A2342"/>
                </a:solidFill>
                <a:latin typeface="Cambria"/>
                <a:ea typeface="Cambria"/>
                <a:cs typeface="Cambria"/>
                <a:sym typeface="Cambria"/>
              </a:rPr>
              <a:t>The Code Is Degenerate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822960" y="32004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6213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03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61 sense codons specify only 20 amino acids</a:t>
            </a:r>
            <a:r>
              <a:rPr lang="en-US" sz="1200" dirty="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0" u="none" strike="noStrike" cap="none" dirty="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most amino acids have more than one codon.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1" name="Google Shape;311;p6"/>
          <p:cNvGraphicFramePr/>
          <p:nvPr/>
        </p:nvGraphicFramePr>
        <p:xfrm>
          <a:off x="822960" y="3749040"/>
          <a:ext cx="5029200" cy="2331750"/>
        </p:xfrm>
        <a:graphic>
          <a:graphicData uri="http://schemas.openxmlformats.org/drawingml/2006/table">
            <a:tbl>
              <a:tblPr>
                <a:noFill/>
                <a:tableStyleId>{9DF099B6-6EFF-4FB2-BE50-0AFF8BF8D22E}</a:tableStyleId>
              </a:tblPr>
              <a:tblGrid>
                <a:gridCol w="173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30"/>
                        <a:buFont typeface="Calibri"/>
                        <a:buNone/>
                      </a:pPr>
                      <a:r>
                        <a:rPr lang="en-US" sz="103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Amino Acid</a:t>
                      </a:r>
                      <a:endParaRPr sz="103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30"/>
                        <a:buFont typeface="Calibri"/>
                        <a:buNone/>
                      </a:pPr>
                      <a:r>
                        <a:rPr lang="en-US" sz="103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Codons (mRNA)</a:t>
                      </a:r>
                      <a:endParaRPr sz="103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13A"/>
                        </a:buClr>
                        <a:buSzPts val="1030"/>
                        <a:buFont typeface="Calibri"/>
                        <a:buNone/>
                      </a:pPr>
                      <a:r>
                        <a:rPr lang="en-US" sz="1030" u="none" strike="noStrike" cap="none">
                          <a:solidFill>
                            <a:srgbClr val="1721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Leucine (Leu)</a:t>
                      </a:r>
                      <a:endParaRPr sz="103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13A"/>
                        </a:buClr>
                        <a:buSzPts val="1030"/>
                        <a:buFont typeface="Calibri"/>
                        <a:buNone/>
                      </a:pPr>
                      <a:r>
                        <a:rPr lang="en-US" sz="1030" u="none" strike="noStrike" cap="none">
                          <a:solidFill>
                            <a:srgbClr val="1721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UUA · UUG · CUU · CUC · CUA · CUG</a:t>
                      </a:r>
                      <a:endParaRPr sz="103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13A"/>
                        </a:buClr>
                        <a:buSzPts val="1030"/>
                        <a:buFont typeface="Calibri"/>
                        <a:buNone/>
                      </a:pPr>
                      <a:r>
                        <a:rPr lang="en-US" sz="1030" u="none" strike="noStrike" cap="none">
                          <a:solidFill>
                            <a:srgbClr val="1721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Serine (Ser)</a:t>
                      </a:r>
                      <a:endParaRPr sz="103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13A"/>
                        </a:buClr>
                        <a:buSzPts val="1030"/>
                        <a:buFont typeface="Calibri"/>
                        <a:buNone/>
                      </a:pPr>
                      <a:r>
                        <a:rPr lang="en-US" sz="1030" u="none" strike="noStrike" cap="none">
                          <a:solidFill>
                            <a:srgbClr val="1721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UCU · UCC · UCA · UCG · AGU · AGC</a:t>
                      </a:r>
                      <a:endParaRPr sz="103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13A"/>
                        </a:buClr>
                        <a:buSzPts val="1030"/>
                        <a:buFont typeface="Calibri"/>
                        <a:buNone/>
                      </a:pPr>
                      <a:r>
                        <a:rPr lang="en-US" sz="1030" u="none" strike="noStrike" cap="none">
                          <a:solidFill>
                            <a:srgbClr val="1721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Methionine (Met)</a:t>
                      </a:r>
                      <a:endParaRPr sz="103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13A"/>
                        </a:buClr>
                        <a:buSzPts val="1030"/>
                        <a:buFont typeface="Calibri"/>
                        <a:buNone/>
                      </a:pPr>
                      <a:r>
                        <a:rPr lang="en-US" sz="1030" u="none" strike="noStrike" cap="none">
                          <a:solidFill>
                            <a:srgbClr val="1721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AUG  (also the start codon)</a:t>
                      </a:r>
                      <a:endParaRPr sz="103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13A"/>
                        </a:buClr>
                        <a:buSzPts val="1030"/>
                        <a:buFont typeface="Calibri"/>
                        <a:buNone/>
                      </a:pPr>
                      <a:r>
                        <a:rPr lang="en-US" sz="1030" u="none" strike="noStrike" cap="none">
                          <a:solidFill>
                            <a:srgbClr val="1721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Tryptophan (Trp)</a:t>
                      </a:r>
                      <a:endParaRPr sz="103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213A"/>
                        </a:buClr>
                        <a:buSzPts val="1030"/>
                        <a:buFont typeface="Calibri"/>
                        <a:buNone/>
                      </a:pPr>
                      <a:r>
                        <a:rPr lang="en-US" sz="1030" u="none" strike="noStrike" cap="none">
                          <a:solidFill>
                            <a:srgbClr val="1721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UGG  (only one codon)</a:t>
                      </a:r>
                      <a:endParaRPr sz="103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E2E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2" name="Google Shape;312;p6"/>
          <p:cNvSpPr/>
          <p:nvPr/>
        </p:nvSpPr>
        <p:spPr>
          <a:xfrm>
            <a:off x="6309360" y="2697480"/>
            <a:ext cx="5303520" cy="3611880"/>
          </a:xfrm>
          <a:prstGeom prst="roundRect">
            <a:avLst>
              <a:gd name="adj" fmla="val 202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313" name="Google Shape;313;p6"/>
          <p:cNvSpPr/>
          <p:nvPr/>
        </p:nvSpPr>
        <p:spPr>
          <a:xfrm>
            <a:off x="6583680" y="2871216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500"/>
              <a:buFont typeface="Cambria"/>
              <a:buNone/>
            </a:pPr>
            <a:r>
              <a:rPr lang="en-US" sz="2000" b="1" i="0" u="none" strike="noStrike" cap="none">
                <a:solidFill>
                  <a:srgbClr val="F4A261"/>
                </a:solidFill>
                <a:latin typeface="Cambria"/>
                <a:ea typeface="Cambria"/>
                <a:cs typeface="Cambria"/>
                <a:sym typeface="Cambria"/>
              </a:rPr>
              <a:t>The Wobble Position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6583680" y="3218688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841"/>
              </a:lnSpc>
              <a:spcBef>
                <a:spcPts val="0"/>
              </a:spcBef>
              <a:spcAft>
                <a:spcPts val="0"/>
              </a:spcAft>
              <a:buClr>
                <a:srgbClr val="DCE5F5"/>
              </a:buClr>
              <a:buSzPts val="1070"/>
              <a:buFont typeface="Calibri"/>
              <a:buNone/>
            </a:pPr>
            <a:r>
              <a:rPr lang="en-US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Codon–anticodon pairing follows strict Watson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Crick rules at positions 1 and 2, but the 3rd codon base (5' end of the anticodon) tolerates non-standard pairing.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6583680" y="3931920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A6A4"/>
              </a:buClr>
              <a:buSzPts val="930"/>
              <a:buFont typeface="Calibri"/>
              <a:buNone/>
            </a:pPr>
            <a:r>
              <a:rPr lang="en-US" sz="1100" b="0" i="0" u="none" strike="noStrike" cap="none">
                <a:solidFill>
                  <a:srgbClr val="2CA6A4"/>
                </a:solidFill>
                <a:latin typeface="Calibri"/>
                <a:ea typeface="Calibri"/>
                <a:cs typeface="Calibri"/>
                <a:sym typeface="Calibri"/>
              </a:rPr>
              <a:t>mRNA codon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6720840" y="4151376"/>
            <a:ext cx="457200" cy="384048"/>
          </a:xfrm>
          <a:prstGeom prst="roundRect">
            <a:avLst>
              <a:gd name="adj" fmla="val 14286"/>
            </a:avLst>
          </a:prstGeom>
          <a:solidFill>
            <a:srgbClr val="1B7A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317" name="Google Shape;317;p6"/>
          <p:cNvSpPr/>
          <p:nvPr/>
        </p:nvSpPr>
        <p:spPr>
          <a:xfrm>
            <a:off x="6720840" y="4151376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7315200" y="4151376"/>
            <a:ext cx="457200" cy="384048"/>
          </a:xfrm>
          <a:prstGeom prst="roundRect">
            <a:avLst>
              <a:gd name="adj" fmla="val 14286"/>
            </a:avLst>
          </a:prstGeom>
          <a:solidFill>
            <a:srgbClr val="1B7A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319" name="Google Shape;319;p6"/>
          <p:cNvSpPr/>
          <p:nvPr/>
        </p:nvSpPr>
        <p:spPr>
          <a:xfrm>
            <a:off x="7315200" y="4151376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7909560" y="4151376"/>
            <a:ext cx="457200" cy="384048"/>
          </a:xfrm>
          <a:prstGeom prst="roundRect">
            <a:avLst>
              <a:gd name="adj" fmla="val 14286"/>
            </a:avLst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321" name="Google Shape;321;p6"/>
          <p:cNvSpPr/>
          <p:nvPr/>
        </p:nvSpPr>
        <p:spPr>
          <a:xfrm>
            <a:off x="7909560" y="4151376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6720840" y="4572000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7BD"/>
              </a:buClr>
              <a:buSzPts val="850"/>
              <a:buFont typeface="Calibri"/>
              <a:buNone/>
            </a:pPr>
            <a:r>
              <a:rPr lang="en-US" sz="1050" b="0" i="1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Standard pairing         Wobble (G·U)</a:t>
            </a:r>
            <a:endParaRPr sz="105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6720840" y="4828032"/>
            <a:ext cx="457200" cy="384048"/>
          </a:xfrm>
          <a:prstGeom prst="roundRect">
            <a:avLst>
              <a:gd name="adj" fmla="val 14286"/>
            </a:avLst>
          </a:prstGeom>
          <a:solidFill>
            <a:srgbClr val="132C4F"/>
          </a:solidFill>
          <a:ln w="12700" cap="flat" cmpd="sng">
            <a:solidFill>
              <a:srgbClr val="3E5A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324" name="Google Shape;324;p6"/>
          <p:cNvSpPr/>
          <p:nvPr/>
        </p:nvSpPr>
        <p:spPr>
          <a:xfrm>
            <a:off x="6720840" y="4828032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7315200" y="4828032"/>
            <a:ext cx="457200" cy="384048"/>
          </a:xfrm>
          <a:prstGeom prst="roundRect">
            <a:avLst>
              <a:gd name="adj" fmla="val 14286"/>
            </a:avLst>
          </a:prstGeom>
          <a:solidFill>
            <a:srgbClr val="132C4F"/>
          </a:solidFill>
          <a:ln w="12700" cap="flat" cmpd="sng">
            <a:solidFill>
              <a:srgbClr val="3E5A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326" name="Google Shape;326;p6"/>
          <p:cNvSpPr/>
          <p:nvPr/>
        </p:nvSpPr>
        <p:spPr>
          <a:xfrm>
            <a:off x="7315200" y="4828032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7909560" y="4828032"/>
            <a:ext cx="457200" cy="384048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328" name="Google Shape;328;p6"/>
          <p:cNvSpPr/>
          <p:nvPr/>
        </p:nvSpPr>
        <p:spPr>
          <a:xfrm>
            <a:off x="7909560" y="4828032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6583680" y="523951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930"/>
              <a:buFont typeface="Calibri"/>
              <a:buNone/>
            </a:pPr>
            <a:r>
              <a:rPr lang="en-US" sz="1100" b="0" i="0" u="none" strike="noStrike" cap="non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tRNA anticodon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6"/>
          <p:cNvSpPr/>
          <p:nvPr/>
        </p:nvSpPr>
        <p:spPr>
          <a:xfrm>
            <a:off x="6583680" y="5532120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7551"/>
              </a:lnSpc>
              <a:spcBef>
                <a:spcPts val="0"/>
              </a:spcBef>
              <a:spcAft>
                <a:spcPts val="0"/>
              </a:spcAft>
              <a:buClr>
                <a:srgbClr val="C9D6EA"/>
              </a:buClr>
              <a:buSzPts val="980"/>
              <a:buFont typeface="Calibri"/>
              <a:buNone/>
            </a:pPr>
            <a:r>
              <a:rPr lang="en-US" sz="1100" b="0" i="0" u="none" strike="noStrike" cap="none">
                <a:solidFill>
                  <a:srgbClr val="132C4F"/>
                </a:solidFill>
                <a:latin typeface="Calibri"/>
                <a:ea typeface="Calibri"/>
                <a:cs typeface="Calibri"/>
                <a:sym typeface="Calibri"/>
              </a:rPr>
              <a:t>Result: a single tRNA can recognize more than one codon, so fewer than 61 tRNA species are needed to translate the entire code.</a:t>
            </a:r>
            <a:endParaRPr sz="1100" b="0" i="0" u="none" strike="noStrike" cap="none">
              <a:solidFill>
                <a:srgbClr val="13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7BD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9AA7B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7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PCR</a:t>
            </a:r>
            <a:r>
              <a:rPr lang="en-US" sz="30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r>
              <a:rPr lang="en-US" sz="3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The Polymerase Chain Reaction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7"/>
          <p:cNvSpPr/>
          <p:nvPr/>
        </p:nvSpPr>
        <p:spPr>
          <a:xfrm>
            <a:off x="548640" y="1371600"/>
            <a:ext cx="3246120" cy="1783080"/>
          </a:xfrm>
          <a:prstGeom prst="roundRect">
            <a:avLst>
              <a:gd name="adj" fmla="val 4103"/>
            </a:avLst>
          </a:prstGeom>
          <a:solidFill>
            <a:srgbClr val="132C4F"/>
          </a:solidFill>
          <a:ln w="12700" cap="flat" cmpd="sng">
            <a:solidFill>
              <a:srgbClr val="2440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9" name="Google Shape;339;p7"/>
          <p:cNvSpPr/>
          <p:nvPr/>
        </p:nvSpPr>
        <p:spPr>
          <a:xfrm>
            <a:off x="731520" y="1536192"/>
            <a:ext cx="420624" cy="420624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0" name="Google Shape;340;p7"/>
          <p:cNvSpPr/>
          <p:nvPr/>
        </p:nvSpPr>
        <p:spPr>
          <a:xfrm>
            <a:off x="731520" y="153619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500"/>
              <a:buFont typeface="Cambria"/>
              <a:buNone/>
            </a:pPr>
            <a:r>
              <a:rPr lang="en-US" sz="2400" b="1" i="0" u="none" strike="noStrike" cap="none">
                <a:solidFill>
                  <a:srgbClr val="0A2342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7"/>
          <p:cNvSpPr/>
          <p:nvPr/>
        </p:nvSpPr>
        <p:spPr>
          <a:xfrm>
            <a:off x="1280160" y="1545336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Denaturation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7"/>
          <p:cNvSpPr/>
          <p:nvPr/>
        </p:nvSpPr>
        <p:spPr>
          <a:xfrm>
            <a:off x="1280160" y="182880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572E"/>
              </a:buClr>
              <a:buSzPts val="1050"/>
              <a:buFont typeface="Calibri"/>
              <a:buNone/>
            </a:pPr>
            <a:r>
              <a:rPr lang="en-US" sz="1600" b="1" i="0" u="none" strike="noStrike" cap="none">
                <a:solidFill>
                  <a:srgbClr val="E4572E"/>
                </a:solidFill>
                <a:latin typeface="Calibri"/>
                <a:ea typeface="Calibri"/>
                <a:cs typeface="Calibri"/>
                <a:sym typeface="Calibri"/>
              </a:rPr>
              <a:t>~95 °C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7"/>
          <p:cNvSpPr/>
          <p:nvPr/>
        </p:nvSpPr>
        <p:spPr>
          <a:xfrm>
            <a:off x="731520" y="2176272"/>
            <a:ext cx="2880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4020"/>
              </a:lnSpc>
              <a:spcBef>
                <a:spcPts val="0"/>
              </a:spcBef>
              <a:spcAft>
                <a:spcPts val="0"/>
              </a:spcAft>
              <a:buClr>
                <a:srgbClr val="C9D6EA"/>
              </a:buClr>
              <a:buSzPts val="970"/>
              <a:buFont typeface="Calibri"/>
              <a:buNone/>
            </a:pPr>
            <a:r>
              <a:rPr lang="en-US" sz="1200" b="0" i="0" u="none" strike="noStrike" cap="none">
                <a:solidFill>
                  <a:srgbClr val="C9D6EA"/>
                </a:solidFill>
                <a:latin typeface="Calibri"/>
                <a:ea typeface="Calibri"/>
                <a:cs typeface="Calibri"/>
                <a:sym typeface="Calibri"/>
              </a:rPr>
              <a:t>Heat breaks H-bonds; dsDNA separates into two single strands.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p7"/>
          <p:cNvCxnSpPr/>
          <p:nvPr/>
        </p:nvCxnSpPr>
        <p:spPr>
          <a:xfrm>
            <a:off x="3840480" y="2263140"/>
            <a:ext cx="228600" cy="914"/>
          </a:xfrm>
          <a:prstGeom prst="straightConnector1">
            <a:avLst/>
          </a:prstGeom>
          <a:noFill/>
          <a:ln w="25400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5" name="Google Shape;345;p7"/>
          <p:cNvSpPr/>
          <p:nvPr/>
        </p:nvSpPr>
        <p:spPr>
          <a:xfrm rot="5400000">
            <a:off x="3959352" y="2189988"/>
            <a:ext cx="146304" cy="146304"/>
          </a:xfrm>
          <a:prstGeom prst="triangle">
            <a:avLst>
              <a:gd name="adj" fmla="val 50000"/>
            </a:avLst>
          </a:prstGeom>
          <a:solidFill>
            <a:srgbClr val="2CA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6" name="Google Shape;346;p7"/>
          <p:cNvSpPr/>
          <p:nvPr/>
        </p:nvSpPr>
        <p:spPr>
          <a:xfrm>
            <a:off x="4114800" y="1371600"/>
            <a:ext cx="3246120" cy="1783080"/>
          </a:xfrm>
          <a:prstGeom prst="roundRect">
            <a:avLst>
              <a:gd name="adj" fmla="val 4103"/>
            </a:avLst>
          </a:prstGeom>
          <a:solidFill>
            <a:srgbClr val="132C4F"/>
          </a:solidFill>
          <a:ln w="12700" cap="flat" cmpd="sng">
            <a:solidFill>
              <a:srgbClr val="2440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7" name="Google Shape;347;p7"/>
          <p:cNvSpPr/>
          <p:nvPr/>
        </p:nvSpPr>
        <p:spPr>
          <a:xfrm>
            <a:off x="4297680" y="1536192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8" name="Google Shape;348;p7"/>
          <p:cNvSpPr/>
          <p:nvPr/>
        </p:nvSpPr>
        <p:spPr>
          <a:xfrm>
            <a:off x="4297680" y="153619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500"/>
              <a:buFont typeface="Cambria"/>
              <a:buNone/>
            </a:pPr>
            <a:r>
              <a:rPr lang="en-US" sz="2400" b="1" i="0" u="none" strike="noStrike" cap="none">
                <a:solidFill>
                  <a:srgbClr val="0A2342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7"/>
          <p:cNvSpPr/>
          <p:nvPr/>
        </p:nvSpPr>
        <p:spPr>
          <a:xfrm>
            <a:off x="4846320" y="1545336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Annealing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7"/>
          <p:cNvSpPr/>
          <p:nvPr/>
        </p:nvSpPr>
        <p:spPr>
          <a:xfrm>
            <a:off x="4846320" y="182880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50"/>
              <a:buFont typeface="Calibri"/>
              <a:buNone/>
            </a:pPr>
            <a:r>
              <a:rPr lang="en-US" sz="1600" b="1" i="0" u="none" strike="noStrike" cap="non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50–65 °C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7"/>
          <p:cNvSpPr/>
          <p:nvPr/>
        </p:nvSpPr>
        <p:spPr>
          <a:xfrm>
            <a:off x="4297680" y="2176272"/>
            <a:ext cx="2880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4020"/>
              </a:lnSpc>
              <a:spcBef>
                <a:spcPts val="0"/>
              </a:spcBef>
              <a:spcAft>
                <a:spcPts val="0"/>
              </a:spcAft>
              <a:buClr>
                <a:srgbClr val="C9D6EA"/>
              </a:buClr>
              <a:buSzPts val="970"/>
              <a:buFont typeface="Calibri"/>
              <a:buNone/>
            </a:pPr>
            <a:r>
              <a:rPr lang="en-US" sz="1200" b="0" i="0" u="none" strike="noStrike" cap="none">
                <a:solidFill>
                  <a:srgbClr val="C9D6EA"/>
                </a:solidFill>
                <a:latin typeface="Calibri"/>
                <a:ea typeface="Calibri"/>
                <a:cs typeface="Calibri"/>
                <a:sym typeface="Calibri"/>
              </a:rPr>
              <a:t>Short primers bind complementary sequences flanking the target.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2" name="Google Shape;352;p7"/>
          <p:cNvCxnSpPr/>
          <p:nvPr/>
        </p:nvCxnSpPr>
        <p:spPr>
          <a:xfrm>
            <a:off x="7406640" y="2263140"/>
            <a:ext cx="228600" cy="914"/>
          </a:xfrm>
          <a:prstGeom prst="straightConnector1">
            <a:avLst/>
          </a:prstGeom>
          <a:noFill/>
          <a:ln w="25400" cap="flat" cmpd="sng">
            <a:solidFill>
              <a:srgbClr val="2CA6A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3" name="Google Shape;353;p7"/>
          <p:cNvSpPr/>
          <p:nvPr/>
        </p:nvSpPr>
        <p:spPr>
          <a:xfrm rot="5400000">
            <a:off x="7525512" y="2189988"/>
            <a:ext cx="146304" cy="146304"/>
          </a:xfrm>
          <a:prstGeom prst="triangle">
            <a:avLst>
              <a:gd name="adj" fmla="val 50000"/>
            </a:avLst>
          </a:prstGeom>
          <a:solidFill>
            <a:srgbClr val="2CA6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4" name="Google Shape;354;p7"/>
          <p:cNvSpPr/>
          <p:nvPr/>
        </p:nvSpPr>
        <p:spPr>
          <a:xfrm>
            <a:off x="7680960" y="1371600"/>
            <a:ext cx="3246120" cy="1783080"/>
          </a:xfrm>
          <a:prstGeom prst="roundRect">
            <a:avLst>
              <a:gd name="adj" fmla="val 4103"/>
            </a:avLst>
          </a:prstGeom>
          <a:solidFill>
            <a:srgbClr val="132C4F"/>
          </a:solidFill>
          <a:ln w="12700" cap="flat" cmpd="sng">
            <a:solidFill>
              <a:srgbClr val="2440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5" name="Google Shape;355;p7"/>
          <p:cNvSpPr/>
          <p:nvPr/>
        </p:nvSpPr>
        <p:spPr>
          <a:xfrm>
            <a:off x="7863840" y="1536192"/>
            <a:ext cx="420624" cy="420624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6" name="Google Shape;356;p7"/>
          <p:cNvSpPr/>
          <p:nvPr/>
        </p:nvSpPr>
        <p:spPr>
          <a:xfrm>
            <a:off x="7863840" y="153619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500"/>
              <a:buFont typeface="Cambria"/>
              <a:buNone/>
            </a:pPr>
            <a:r>
              <a:rPr lang="en-US" sz="2400" b="1" i="0" u="none" strike="noStrike" cap="none">
                <a:solidFill>
                  <a:srgbClr val="0A2342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8412480" y="1545336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Extension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8412480" y="182880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050"/>
              <a:buFont typeface="Calibri"/>
              <a:buNone/>
            </a:pPr>
            <a:r>
              <a:rPr lang="en-US" sz="1600" b="1" i="0" u="none" strike="noStrike" cap="non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~72 °C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7863840" y="2176272"/>
            <a:ext cx="2880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4020"/>
              </a:lnSpc>
              <a:spcBef>
                <a:spcPts val="0"/>
              </a:spcBef>
              <a:spcAft>
                <a:spcPts val="0"/>
              </a:spcAft>
              <a:buClr>
                <a:srgbClr val="C9D6EA"/>
              </a:buClr>
              <a:buSzPts val="970"/>
              <a:buFont typeface="Calibri"/>
              <a:buNone/>
            </a:pPr>
            <a:r>
              <a:rPr lang="en-US" sz="1200" b="0" i="0" u="none" strike="noStrike" cap="none">
                <a:solidFill>
                  <a:srgbClr val="C9D6EA"/>
                </a:solidFill>
                <a:latin typeface="Calibri"/>
                <a:ea typeface="Calibri"/>
                <a:cs typeface="Calibri"/>
                <a:sym typeface="Calibri"/>
              </a:rPr>
              <a:t>Taq polymerase adds dNTPs 5'→3', synthesizing new strands.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/>
          <p:nvPr/>
        </p:nvSpPr>
        <p:spPr>
          <a:xfrm>
            <a:off x="548640" y="3264408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A6A4"/>
              </a:buClr>
              <a:buSzPts val="1150"/>
              <a:buFont typeface="Calibri"/>
              <a:buNone/>
            </a:pPr>
            <a:r>
              <a:rPr lang="en-US" sz="1800" b="0" i="1" u="none" strike="noStrike" cap="none">
                <a:solidFill>
                  <a:srgbClr val="2CA6A4"/>
                </a:solidFill>
                <a:latin typeface="Calibri"/>
                <a:ea typeface="Calibri"/>
                <a:cs typeface="Calibri"/>
                <a:sym typeface="Calibri"/>
              </a:rPr>
              <a:t>↻  Repeated for 25–35 cycles</a:t>
            </a:r>
            <a:r>
              <a:rPr lang="en-US" sz="1800" i="1">
                <a:solidFill>
                  <a:srgbClr val="2CA6A4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800" b="0" i="1" u="none" strike="noStrike" cap="none">
                <a:solidFill>
                  <a:srgbClr val="2CA6A4"/>
                </a:solidFill>
                <a:latin typeface="Calibri"/>
                <a:ea typeface="Calibri"/>
                <a:cs typeface="Calibri"/>
                <a:sym typeface="Calibri"/>
              </a:rPr>
              <a:t>exponential amplification of the target sequence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548640" y="365760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132C4F"/>
          </a:solidFill>
          <a:ln w="12700" cap="flat" cmpd="sng">
            <a:solidFill>
              <a:srgbClr val="1B7A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2" name="Google Shape;362;p7"/>
          <p:cNvSpPr/>
          <p:nvPr/>
        </p:nvSpPr>
        <p:spPr>
          <a:xfrm>
            <a:off x="548640" y="36576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Template DNA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2743200" y="365760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132C4F"/>
          </a:solidFill>
          <a:ln w="12700" cap="flat" cmpd="sng">
            <a:solidFill>
              <a:srgbClr val="1B7A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4" name="Google Shape;364;p7"/>
          <p:cNvSpPr/>
          <p:nvPr/>
        </p:nvSpPr>
        <p:spPr>
          <a:xfrm>
            <a:off x="2743200" y="36576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Forward &amp; reverse primers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7"/>
          <p:cNvSpPr/>
          <p:nvPr/>
        </p:nvSpPr>
        <p:spPr>
          <a:xfrm>
            <a:off x="4937760" y="365760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132C4F"/>
          </a:solidFill>
          <a:ln w="12700" cap="flat" cmpd="sng">
            <a:solidFill>
              <a:srgbClr val="1B7A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6" name="Google Shape;366;p7"/>
          <p:cNvSpPr/>
          <p:nvPr/>
        </p:nvSpPr>
        <p:spPr>
          <a:xfrm>
            <a:off x="4937760" y="36576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Taq DNA polymerase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7132320" y="365760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132C4F"/>
          </a:solidFill>
          <a:ln w="12700" cap="flat" cmpd="sng">
            <a:solidFill>
              <a:srgbClr val="1B7A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8" name="Google Shape;368;p7"/>
          <p:cNvSpPr/>
          <p:nvPr/>
        </p:nvSpPr>
        <p:spPr>
          <a:xfrm>
            <a:off x="7132320" y="36576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dNTPs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9326880" y="365760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132C4F"/>
          </a:solidFill>
          <a:ln w="12700" cap="flat" cmpd="sng">
            <a:solidFill>
              <a:srgbClr val="1B7A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0" name="Google Shape;370;p7"/>
          <p:cNvSpPr/>
          <p:nvPr/>
        </p:nvSpPr>
        <p:spPr>
          <a:xfrm>
            <a:off x="9326880" y="36576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Mg²⁺ buffer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548640" y="4315968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Copy number ≈ 2ⁿ  (n = number of cycles)</a:t>
            </a:r>
            <a:endParaRPr sz="160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6400800" y="4572000"/>
            <a:ext cx="4709160" cy="1417320"/>
          </a:xfrm>
          <a:prstGeom prst="roundRect">
            <a:avLst>
              <a:gd name="adj" fmla="val 5161"/>
            </a:avLst>
          </a:prstGeom>
          <a:solidFill>
            <a:srgbClr val="132C4F"/>
          </a:solidFill>
          <a:ln w="12700" cap="flat" cmpd="sng">
            <a:solidFill>
              <a:srgbClr val="2440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3" name="Google Shape;373;p7"/>
          <p:cNvSpPr/>
          <p:nvPr/>
        </p:nvSpPr>
        <p:spPr>
          <a:xfrm>
            <a:off x="6675120" y="4700016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3800"/>
              <a:buFont typeface="Cambria"/>
              <a:buNone/>
            </a:pPr>
            <a:r>
              <a:rPr lang="en-US" sz="5400" b="1" i="0" u="none" strike="noStrike" cap="none">
                <a:solidFill>
                  <a:srgbClr val="F4A261"/>
                </a:solidFill>
                <a:latin typeface="Cambria"/>
                <a:ea typeface="Cambria"/>
                <a:cs typeface="Cambria"/>
                <a:sym typeface="Cambria"/>
              </a:rPr>
              <a:t>35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7"/>
          <p:cNvSpPr/>
          <p:nvPr/>
        </p:nvSpPr>
        <p:spPr>
          <a:xfrm>
            <a:off x="6675120" y="53035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6EA"/>
              </a:buClr>
              <a:buSzPts val="1100"/>
              <a:buFont typeface="Calibri"/>
              <a:buNone/>
            </a:pPr>
            <a:r>
              <a:rPr lang="en-US" sz="1800" b="0" i="0" u="none" strike="noStrike" cap="none">
                <a:solidFill>
                  <a:srgbClr val="C9D6EA"/>
                </a:solidFill>
                <a:latin typeface="Calibri"/>
                <a:ea typeface="Calibri"/>
                <a:cs typeface="Calibri"/>
                <a:sym typeface="Calibri"/>
              </a:rPr>
              <a:t>cycles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7"/>
          <p:cNvSpPr/>
          <p:nvPr/>
        </p:nvSpPr>
        <p:spPr>
          <a:xfrm>
            <a:off x="8412480" y="4718304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≈ 3.4 × 10¹⁰ copies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8412480" y="5065776"/>
            <a:ext cx="26060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C9D6EA"/>
              </a:buClr>
              <a:buSzPts val="930"/>
              <a:buFont typeface="Calibri"/>
              <a:buNone/>
            </a:pPr>
            <a:r>
              <a:rPr lang="en-US" sz="1200" b="0" i="0" u="none" strike="noStrike" cap="none">
                <a:solidFill>
                  <a:srgbClr val="C9D6EA"/>
                </a:solidFill>
                <a:latin typeface="Calibri"/>
                <a:ea typeface="Calibri"/>
                <a:cs typeface="Calibri"/>
                <a:sym typeface="Calibri"/>
              </a:rPr>
              <a:t>from a single template molecule</a:t>
            </a:r>
            <a:r>
              <a:rPr lang="en-US" sz="1200">
                <a:solidFill>
                  <a:srgbClr val="C9D6EA"/>
                </a:solidFill>
                <a:latin typeface="Calibri"/>
                <a:ea typeface="Calibri"/>
                <a:cs typeface="Calibri"/>
                <a:sym typeface="Calibri"/>
              </a:rPr>
              <a:t>, it </a:t>
            </a:r>
            <a:r>
              <a:rPr lang="en-US" sz="1200" b="0" i="0" u="none" strike="noStrike" cap="none">
                <a:solidFill>
                  <a:srgbClr val="C9D6EA"/>
                </a:solidFill>
                <a:latin typeface="Calibri"/>
                <a:ea typeface="Calibri"/>
                <a:cs typeface="Calibri"/>
                <a:sym typeface="Calibri"/>
              </a:rPr>
              <a:t>enough to detect DNA present only in trace amounts (diagnostics, forensics, sequencing prep).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C7A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C7A9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1A2E"/>
                </a:solidFill>
              </a:rPr>
              <a:t>Go Deeper: DNA &amp; RNA Right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555566"/>
                </a:solidFill>
              </a:rPr>
              <a:t>Scan for 12 current articles on gene editing, RNA medicine, DNA storage, and more</a:t>
            </a:r>
          </a:p>
        </p:txBody>
      </p:sp>
      <p:pic>
        <p:nvPicPr>
          <p:cNvPr id="4" name="Picture 3" descr="qr_b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2057400"/>
            <a:ext cx="32004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440680"/>
            <a:ext cx="1072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55566"/>
                </a:solidFill>
              </a:rPr>
              <a:t>https://claude.ai/code/artifact/667ab17c-f452-4b89-8df7-2286ee64214f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717</Words>
  <Application>Microsoft Macintosh PowerPoint</Application>
  <PresentationFormat>Widescreen</PresentationFormat>
  <Paragraphs>132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IC0N</dc:creator>
  <cp:lastModifiedBy>rahul kumar gupta</cp:lastModifiedBy>
  <cp:revision>5</cp:revision>
  <dcterms:modified xsi:type="dcterms:W3CDTF">2026-08-10T03:11:03Z</dcterms:modified>
</cp:coreProperties>
</file>