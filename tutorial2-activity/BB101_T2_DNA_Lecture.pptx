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4577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DNA &amp; RNA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" y="251460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D8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Nature's Code — How Life Stores, Copies &amp; Reads Information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3703320"/>
            <a:ext cx="1948221" cy="868680"/>
          </a:xfrm>
          <a:prstGeom prst="roundRect">
            <a:avLst>
              <a:gd name="adj" fmla="val 8421"/>
            </a:avLst>
          </a:prstGeom>
          <a:solidFill>
            <a:srgbClr val="3A2F5C"/>
          </a:solidFill>
          <a:ln w="12700">
            <a:solidFill>
              <a:srgbClr val="5A4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7824" y="3703320"/>
            <a:ext cx="183849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Nucleotides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72349" y="3703320"/>
            <a:ext cx="1948221" cy="868680"/>
          </a:xfrm>
          <a:prstGeom prst="roundRect">
            <a:avLst>
              <a:gd name="adj" fmla="val 8421"/>
            </a:avLst>
          </a:prstGeom>
          <a:solidFill>
            <a:srgbClr val="3A2F5C"/>
          </a:solidFill>
          <a:ln w="12700">
            <a:solidFill>
              <a:srgbClr val="5A4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27213" y="3703320"/>
            <a:ext cx="183849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Nitrogenous Bases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21737" y="3703320"/>
            <a:ext cx="1948221" cy="868680"/>
          </a:xfrm>
          <a:prstGeom prst="roundRect">
            <a:avLst>
              <a:gd name="adj" fmla="val 8421"/>
            </a:avLst>
          </a:prstGeom>
          <a:solidFill>
            <a:srgbClr val="3A2F5C"/>
          </a:solidFill>
          <a:ln w="12700">
            <a:solidFill>
              <a:srgbClr val="5A4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76601" y="3703320"/>
            <a:ext cx="183849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&amp; RNA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271126" y="3703320"/>
            <a:ext cx="1948221" cy="868680"/>
          </a:xfrm>
          <a:prstGeom prst="roundRect">
            <a:avLst>
              <a:gd name="adj" fmla="val 8421"/>
            </a:avLst>
          </a:prstGeom>
          <a:solidFill>
            <a:srgbClr val="3A2F5C"/>
          </a:solidFill>
          <a:ln w="12700">
            <a:solidFill>
              <a:srgbClr val="5A4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25990" y="3703320"/>
            <a:ext cx="183849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&amp; Transcription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420515" y="3703320"/>
            <a:ext cx="1948221" cy="868680"/>
          </a:xfrm>
          <a:prstGeom prst="roundRect">
            <a:avLst>
              <a:gd name="adj" fmla="val 8421"/>
            </a:avLst>
          </a:prstGeom>
          <a:solidFill>
            <a:srgbClr val="3A2F5C"/>
          </a:solidFill>
          <a:ln w="12700">
            <a:solidFill>
              <a:srgbClr val="5A4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75379" y="3703320"/>
            <a:ext cx="183849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Dogma &amp; PCR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9B8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 101 · Tutorial 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of Nucleotides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nucleotide has three parts:
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FEAF8"/>
          </a:solidFill>
          <a:ln w="9525">
            <a:solidFill>
              <a:srgbClr val="DCD5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46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Phosphate group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01168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connector — links one nucleotide to the next.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FEAF8"/>
          </a:solidFill>
          <a:ln w="9525">
            <a:solidFill>
              <a:srgbClr val="DCD5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2374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Sugar (pentose)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78892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Ribose (RNA) or deoxyribose (DNA) — the backbone.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EFEAF8"/>
          </a:solidFill>
          <a:ln w="9525">
            <a:solidFill>
              <a:srgbClr val="DCD5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30098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Nitrogenous base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356616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T, G, C, or U — the actual information.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5120640" cy="1417320"/>
          </a:xfrm>
          <a:prstGeom prst="roundRect">
            <a:avLst>
              <a:gd name="adj" fmla="val 3871"/>
            </a:avLst>
          </a:prstGeom>
          <a:solidFill>
            <a:srgbClr val="FBE9F0"/>
          </a:solidFill>
          <a:ln w="9525">
            <a:solidFill>
              <a:srgbClr val="EAB9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3434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Nucleoside vs Nucleotide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61772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nucleoside is sugar + base only — no phosphate, not yet linked into a chain. Add the phosphate and it becomes a nucleotide, ready to join the strand. NMP / NDP / NTP just mean 1, 2, or 3 phosphates attached.</a:t>
            </a:r>
            <a:endParaRPr lang="en-US" sz="1050" dirty="0"/>
          </a:p>
        </p:txBody>
      </p:sp>
      <p:pic>
        <p:nvPicPr>
          <p:cNvPr id="17" name="Image 0" descr="assets/nucleotide_panel.png">    </p:cNvPr>
          <p:cNvPicPr>
            <a:picLocks noChangeAspect="1"/>
          </p:cNvPicPr>
          <p:nvPr/>
        </p:nvPicPr>
        <p:blipFill>
          <a:blip r:embed="rId1"/>
          <a:srcRect l="-10505" r="-10505" t="0" b="0"/>
          <a:stretch/>
        </p:blipFill>
        <p:spPr>
          <a:xfrm>
            <a:off x="6172200" y="1188720"/>
            <a:ext cx="5486400" cy="52578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of Nitrogenous Bases</a:t>
            </a:r>
            <a:endParaRPr lang="en-US" sz="3000" dirty="0"/>
          </a:p>
        </p:txBody>
      </p:sp>
      <p:pic>
        <p:nvPicPr>
          <p:cNvPr id="4" name="Image 0" descr="assets/b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675120" cy="450925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188720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EFEAF8"/>
          </a:solidFill>
          <a:ln w="9525">
            <a:solidFill>
              <a:srgbClr val="DCD5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280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Purines vs Pyrimidines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0" y="155448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&amp; G = purines, two rings, “big.”  C, T, U = pyrimidines, one ring, “small.” Big always pairs with small — that’s what keeps the DNA ladder a constant width.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58952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BE9F0"/>
          </a:solidFill>
          <a:ln w="9525">
            <a:solidFill>
              <a:srgbClr val="EAB9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Pairing Rule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0" y="320040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1A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T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(or A—U in RNA), 2 hydrogen bonds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1A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— C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 hydrogen bonds — slightly stronger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89520" y="466344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E2F2EC"/>
          </a:solidFill>
          <a:ln w="9525">
            <a:solidFill>
              <a:srgbClr val="B9DD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Later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772400" y="50292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 rich DNA needs more heat to melt apart than A-T rich DNA — directly relevant to PCR’s temperatures, later in this deck.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DNA &amp; RNA: Structure of the Code</a:t>
            </a:r>
            <a:endParaRPr lang="en-US" sz="3000" dirty="0"/>
          </a:p>
        </p:txBody>
      </p:sp>
      <p:pic>
        <p:nvPicPr>
          <p:cNvPr id="4" name="Image 0" descr="assets/dna_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7406640" cy="440443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0" y="1143000"/>
            <a:ext cx="3429000" cy="2331720"/>
          </a:xfrm>
          <a:prstGeom prst="roundRect">
            <a:avLst>
              <a:gd name="adj" fmla="val 2353"/>
            </a:avLst>
          </a:prstGeom>
          <a:solidFill>
            <a:srgbClr val="EFEAF8"/>
          </a:solidFill>
          <a:ln w="9525">
            <a:solidFill>
              <a:srgbClr val="DCD5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12480" y="1207008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4E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412480" y="1572768"/>
            <a:ext cx="3063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Double-stranded helix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bases long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Deoxyribose sugar — very stable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 the nucleus — the archive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229600" y="3611880"/>
            <a:ext cx="3429000" cy="2331720"/>
          </a:xfrm>
          <a:prstGeom prst="roundRect">
            <a:avLst>
              <a:gd name="adj" fmla="val 2353"/>
            </a:avLst>
          </a:prstGeom>
          <a:solidFill>
            <a:srgbClr val="FBE9F0"/>
          </a:solidFill>
          <a:ln w="9525">
            <a:solidFill>
              <a:srgbClr val="EAB9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0" y="3675888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43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RNA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041648"/>
            <a:ext cx="3063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Single-stranded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thousand bases long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Ribose sugar — less stable, reactive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Made, used, then discarded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08076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is built to last. RNA is built to be disposable. Every difference above exists for that one reason.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COPYING THE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Replication &amp; Transcription: Two Ways to Copy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394960" cy="2423160"/>
          </a:xfrm>
          <a:prstGeom prst="roundRect">
            <a:avLst>
              <a:gd name="adj" fmla="val 2264"/>
            </a:avLst>
          </a:prstGeom>
          <a:solidFill>
            <a:srgbClr val="EFEAF8"/>
          </a:solidFill>
          <a:ln w="9525">
            <a:solidFill>
              <a:srgbClr val="DCD5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→ DNA   ·   Replication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Semiconservative — each new duplex keeps one parental strand.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polymerase reads 3'→5', builds new strand 5'→3'.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strand: continuous. Lagging strand: short Okazaki fragments, sealed by ligase.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BE9F0"/>
          </a:solidFill>
          <a:ln w="9525">
            <a:solidFill>
              <a:srgbClr val="EAB9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886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→ RNA   ·   Transcription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out one gene only — not the whole genome.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RNA polymerase reads the template, builds mRNA 5'→3'.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mRNA transcript (5'…AUG…3') carries the code to the ribosome.</a:t>
            </a:r>
            <a:endParaRPr lang="en-US" sz="1150" dirty="0"/>
          </a:p>
        </p:txBody>
      </p:sp>
      <p:pic>
        <p:nvPicPr>
          <p:cNvPr id="10" name="Image 0" descr="assets/repl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188720"/>
            <a:ext cx="5394960" cy="378330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263640" y="50749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the full replication mechanism (not required to memorize step-by-step today).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Codons &amp; the Central Dogma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EFEAF8"/>
          </a:solidFill>
          <a:ln w="15875">
            <a:solidFill>
              <a:srgbClr val="6B4E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07592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(template)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61848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3'–T A C–5'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20440" y="123444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BE9F0"/>
          </a:solidFill>
          <a:ln w="15875">
            <a:solidFill>
              <a:srgbClr val="C943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1307592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mRNA (codon)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11880" y="161848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4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5'–A U G–3'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92240" y="123444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E2F2EC"/>
          </a:solidFill>
          <a:ln w="15875">
            <a:solidFill>
              <a:srgbClr val="1D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07592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0" y="161848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 (Start)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880360" y="1668780"/>
            <a:ext cx="640080" cy="0"/>
          </a:xfrm>
          <a:prstGeom prst="line">
            <a:avLst/>
          </a:prstGeom>
          <a:noFill/>
          <a:ln w="22225">
            <a:solidFill>
              <a:srgbClr val="6E6880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880360" y="94183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852160" y="1668780"/>
            <a:ext cx="640080" cy="0"/>
          </a:xfrm>
          <a:prstGeom prst="line">
            <a:avLst/>
          </a:prstGeom>
          <a:noFill/>
          <a:ln w="22225">
            <a:solidFill>
              <a:srgbClr val="6E688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852160" y="94183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06340" y="2514600"/>
            <a:ext cx="2331720" cy="777240"/>
          </a:xfrm>
          <a:prstGeom prst="roundRect">
            <a:avLst>
              <a:gd name="adj" fmla="val 8235"/>
            </a:avLst>
          </a:prstGeom>
          <a:solidFill>
            <a:srgbClr val="F3EEEA"/>
          </a:solidFill>
          <a:ln w="15875">
            <a:solidFill>
              <a:srgbClr val="C979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97780" y="256032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tRNA (anticodon)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97780" y="2843784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79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3'–U A C–5'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172200" y="2514600"/>
            <a:ext cx="0" cy="-411480"/>
          </a:xfrm>
          <a:prstGeom prst="line">
            <a:avLst/>
          </a:prstGeom>
          <a:noFill/>
          <a:ln w="19050">
            <a:solidFill>
              <a:srgbClr val="C9791E"/>
            </a:solidFill>
            <a:prstDash val="dash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7475220" y="2624328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codon, delivers the matching amino acid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611880"/>
            <a:ext cx="4709160" cy="713232"/>
          </a:xfrm>
          <a:prstGeom prst="roundRect">
            <a:avLst>
              <a:gd name="adj" fmla="val 6410"/>
            </a:avLst>
          </a:prstGeom>
          <a:solidFill>
            <a:srgbClr val="FBF0DC"/>
          </a:solidFill>
          <a:ln w="9525">
            <a:solidFill>
              <a:srgbClr val="E8A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639312"/>
            <a:ext cx="4480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runs mRNA → Protein directly. tRNA is a helper that reads the codon and hands over an amino acid — not an intermediate product.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52628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Is Degenerate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481888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sense codons specify only 20 amino acids — most amino acids have more than one codon.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239512"/>
          <a:ext cx="4709160" cy="1417320"/>
        </p:xfrm>
        <a:graphic>
          <a:graphicData uri="http://schemas.openxmlformats.org/drawingml/2006/table">
            <a:tbl>
              <a:tblPr/>
              <a:tblGrid>
                <a:gridCol w="1554480"/>
                <a:gridCol w="315468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Amino acid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9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Codons (mRNA)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E9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64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Leucine (Leu)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64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UUA · UUG · CUU · CUC · CUA · CUG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64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Serine (Ser)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64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UCU · UCC · UCA · UCG · AGU · AGC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64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Methionine (Met)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64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(also the start codon)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64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Tryptophan (Trp)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64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UGG (only one codon)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8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577840" y="4526280"/>
            <a:ext cx="6035040" cy="2148840"/>
          </a:xfrm>
          <a:prstGeom prst="roundRect">
            <a:avLst>
              <a:gd name="adj" fmla="val 2553"/>
            </a:avLst>
          </a:prstGeom>
          <a:solidFill>
            <a:srgbClr val="FBE9F0"/>
          </a:solidFill>
          <a:ln w="9525">
            <a:solidFill>
              <a:srgbClr val="EAB9C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60720" y="461772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Wobble Position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5760720" y="4910328"/>
            <a:ext cx="5669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pairing governs codon positions 1 &amp; 2. Position 3 tolerates a looser match — e.g. a G on the tRNA pairing with U on the mRNA. Result: one tRNA can recognize more than one codon, so fewer than 61 tRNA types are needed.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943600" y="5760720"/>
            <a:ext cx="384048" cy="347472"/>
          </a:xfrm>
          <a:prstGeom prst="roundRect">
            <a:avLst>
              <a:gd name="adj" fmla="val 10526"/>
            </a:avLst>
          </a:prstGeom>
          <a:solidFill>
            <a:srgbClr val="6B4E9E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0" y="57607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446520" y="5760720"/>
            <a:ext cx="384048" cy="347472"/>
          </a:xfrm>
          <a:prstGeom prst="roundRect">
            <a:avLst>
              <a:gd name="adj" fmla="val 10526"/>
            </a:avLst>
          </a:prstGeom>
          <a:solidFill>
            <a:srgbClr val="6B4E9E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446520" y="57607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6949440" y="5760720"/>
            <a:ext cx="384048" cy="347472"/>
          </a:xfrm>
          <a:prstGeom prst="roundRect">
            <a:avLst>
              <a:gd name="adj" fmla="val 10526"/>
            </a:avLst>
          </a:prstGeom>
          <a:solidFill>
            <a:srgbClr val="6B4E9E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49440" y="57607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943600" y="6190488"/>
            <a:ext cx="384048" cy="347472"/>
          </a:xfrm>
          <a:prstGeom prst="roundRect">
            <a:avLst>
              <a:gd name="adj" fmla="val 10526"/>
            </a:avLst>
          </a:prstGeom>
          <a:solidFill>
            <a:srgbClr val="C9791E"/>
          </a:solidFill>
          <a:ln w="12700">
            <a:solidFill>
              <a:srgbClr val="C9791E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43600" y="61904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6446520" y="6190488"/>
            <a:ext cx="384048" cy="347472"/>
          </a:xfrm>
          <a:prstGeom prst="roundRect">
            <a:avLst>
              <a:gd name="adj" fmla="val 10526"/>
            </a:avLst>
          </a:prstGeom>
          <a:solidFill>
            <a:srgbClr val="C9791E"/>
          </a:solidFill>
          <a:ln w="12700">
            <a:solidFill>
              <a:srgbClr val="C9791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61904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6949440" y="6190488"/>
            <a:ext cx="384048" cy="347472"/>
          </a:xfrm>
          <a:prstGeom prst="roundRect">
            <a:avLst>
              <a:gd name="adj" fmla="val 10526"/>
            </a:avLst>
          </a:prstGeom>
          <a:solidFill>
            <a:srgbClr val="C9791E"/>
          </a:solidFill>
          <a:ln w="12700">
            <a:solidFill>
              <a:srgbClr val="C9791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949440" y="61904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250" dirty="0"/>
          </a:p>
        </p:txBody>
      </p:sp>
      <p:sp>
        <p:nvSpPr>
          <p:cNvPr id="42" name="Text 39"/>
          <p:cNvSpPr/>
          <p:nvPr/>
        </p:nvSpPr>
        <p:spPr>
          <a:xfrm>
            <a:off x="7589520" y="576072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codon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7589520" y="619048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anticodon (wobble)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94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COPY-PASTE TOOL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PCR: The Polymerase Chain Reaction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35661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5875">
            <a:solidFill>
              <a:srgbClr val="6B4E9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17320"/>
            <a:ext cx="457200" cy="457200"/>
          </a:xfrm>
          <a:prstGeom prst="ellipse">
            <a:avLst/>
          </a:prstGeom>
          <a:solidFill>
            <a:srgbClr val="6B4E9E"/>
          </a:solidFill>
          <a:ln w="12700">
            <a:solidFill>
              <a:srgbClr val="6B4E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Denaturation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~95 °C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697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breaks H-bonds; dsDNA separates into two single strands.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1234440"/>
            <a:ext cx="35661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5875">
            <a:solidFill>
              <a:srgbClr val="C943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417320"/>
            <a:ext cx="457200" cy="457200"/>
          </a:xfrm>
          <a:prstGeom prst="ellipse">
            <a:avLst/>
          </a:prstGeom>
          <a:solidFill>
            <a:srgbClr val="C9436E"/>
          </a:solidFill>
          <a:ln w="12700">
            <a:solidFill>
              <a:srgbClr val="C943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1965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Annealing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3317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50–65 °C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2697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primers bind complementary sequences flanking the target.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234440"/>
            <a:ext cx="35661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5875">
            <a:solidFill>
              <a:srgbClr val="1D7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1417320"/>
            <a:ext cx="457200" cy="457200"/>
          </a:xfrm>
          <a:prstGeom prst="ellipse">
            <a:avLst/>
          </a:prstGeom>
          <a:solidFill>
            <a:srgbClr val="1D7A5F"/>
          </a:solidFill>
          <a:ln w="12700">
            <a:solidFill>
              <a:srgbClr val="1D7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6676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1965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66760" y="23317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7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~72 °C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2697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 polymerase adds dNTPs 5'→3', synthesizing new strands.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33756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25–35 times — every molecule made becomes a template for the next cycle.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886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 the tube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20624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DNA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&amp; reverse primers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 DNA polymerase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dNTPs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64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Mg²⁺ buffer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35040" y="3886200"/>
            <a:ext cx="5577840" cy="2331720"/>
          </a:xfrm>
          <a:prstGeom prst="roundRect">
            <a:avLst>
              <a:gd name="adj" fmla="val 2745"/>
            </a:avLst>
          </a:prstGeom>
          <a:solidFill>
            <a:srgbClr val="2A2140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404164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number ≈ 2ⁿ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09360" y="4434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number of cycles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309360" y="475488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943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4600" dirty="0"/>
          </a:p>
        </p:txBody>
      </p:sp>
      <p:sp>
        <p:nvSpPr>
          <p:cNvPr id="29" name="Text 27"/>
          <p:cNvSpPr/>
          <p:nvPr/>
        </p:nvSpPr>
        <p:spPr>
          <a:xfrm>
            <a:off x="6309360" y="54406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863840" y="4800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3.4 × 10¹⁰ copies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863840" y="52120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 template molecule — enough to detect DNA present only in trace amounts.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Deeper: DNA &amp; RNA Right Now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8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12 current articles on gene editing, RNA medicine, DNA storage, and more</a:t>
            </a:r>
            <a:endParaRPr lang="en-US" sz="1500" dirty="0"/>
          </a:p>
        </p:txBody>
      </p:sp>
      <p:pic>
        <p:nvPicPr>
          <p:cNvPr id="4" name="Image 0" descr="asset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2011680"/>
            <a:ext cx="310896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52578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8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https://claude.ai/code/artifact/667ab17c-f452-4b89-8df7-2286ee64214f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2026-08-10T09:13:26Z</dcterms:created>
  <dcterms:modified xsi:type="dcterms:W3CDTF">2026-08-10T09:13:26Z</dcterms:modified>
</cp:coreProperties>
</file>